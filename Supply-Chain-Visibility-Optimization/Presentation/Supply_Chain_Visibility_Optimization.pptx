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8"/>
  </p:notesMasterIdLst>
  <p:sldIdLst>
    <p:sldId id="256" r:id="rId3"/>
    <p:sldId id="258" r:id="rId4"/>
    <p:sldId id="259" r:id="rId5"/>
    <p:sldId id="276" r:id="rId6"/>
    <p:sldId id="261" r:id="rId7"/>
    <p:sldId id="277" r:id="rId8"/>
    <p:sldId id="263" r:id="rId9"/>
    <p:sldId id="264" r:id="rId10"/>
    <p:sldId id="265" r:id="rId11"/>
    <p:sldId id="267" r:id="rId12"/>
    <p:sldId id="272" r:id="rId13"/>
    <p:sldId id="269" r:id="rId14"/>
    <p:sldId id="270" r:id="rId15"/>
    <p:sldId id="271" r:id="rId16"/>
    <p:sldId id="27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A8DA"/>
    <a:srgbClr val="4EA880"/>
    <a:srgbClr val="2362BF"/>
    <a:srgbClr val="56ACDC"/>
    <a:srgbClr val="96CBE9"/>
    <a:srgbClr val="2466C6"/>
    <a:srgbClr val="8AACE2"/>
    <a:srgbClr val="286FD8"/>
    <a:srgbClr val="E7F0E7"/>
    <a:srgbClr val="EBE1C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516" y="-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12.png"/><Relationship Id="rId9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4" Type="http://schemas.openxmlformats.org/officeDocument/2006/relationships/image" Target="../media/image26.png"/><Relationship Id="rId9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856A3">
              <a:alpha val="21961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5120640" cy="5120640"/>
          </a:xfrm>
          <a:prstGeom prst="ellipse">
            <a:avLst/>
          </a:prstGeom>
          <a:solidFill>
            <a:srgbClr val="C99A3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4663440"/>
            <a:ext cx="2743200" cy="2743200"/>
          </a:xfrm>
          <a:prstGeom prst="ellipse">
            <a:avLst/>
          </a:prstGeom>
          <a:solidFill>
            <a:srgbClr val="0F2A52">
              <a:alpha val="7843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0" y="23317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 •  POWER BI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697480"/>
            <a:ext cx="107259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Visibility </a:t>
            </a:r>
            <a:r>
              <a:rPr lang="en-US" sz="4200" b="1" dirty="0" smtClean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With Optimization Analytics</a:t>
            </a:r>
            <a:endParaRPr lang="en-US" sz="4200" dirty="0">
              <a:solidFill>
                <a:srgbClr val="0F2A52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731520" y="3902336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chemeClr val="accent4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</a:t>
            </a:r>
            <a:r>
              <a:rPr lang="en-US" sz="2000" i="1" dirty="0" smtClean="0">
                <a:solidFill>
                  <a:schemeClr val="accent4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 </a:t>
            </a:r>
            <a:r>
              <a:rPr lang="en-US" sz="2000" i="1" dirty="0">
                <a:solidFill>
                  <a:schemeClr val="accent4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20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5545836" y="4434840"/>
            <a:ext cx="64008" cy="64008"/>
          </a:xfrm>
          <a:prstGeom prst="ellipse">
            <a:avLst/>
          </a:prstGeom>
          <a:solidFill>
            <a:srgbClr val="C99A3B"/>
          </a:solidFill>
          <a:ln/>
        </p:spPr>
      </p:sp>
      <p:sp>
        <p:nvSpPr>
          <p:cNvPr id="11" name="Shape 8"/>
          <p:cNvSpPr/>
          <p:nvPr/>
        </p:nvSpPr>
        <p:spPr>
          <a:xfrm>
            <a:off x="6062472" y="4434840"/>
            <a:ext cx="64008" cy="64008"/>
          </a:xfrm>
          <a:prstGeom prst="ellipse">
            <a:avLst/>
          </a:prstGeom>
          <a:solidFill>
            <a:srgbClr val="2856A3"/>
          </a:solidFill>
          <a:ln/>
        </p:spPr>
      </p:sp>
      <p:sp>
        <p:nvSpPr>
          <p:cNvPr id="12" name="Shape 9"/>
          <p:cNvSpPr/>
          <p:nvPr/>
        </p:nvSpPr>
        <p:spPr>
          <a:xfrm>
            <a:off x="6579108" y="4434840"/>
            <a:ext cx="64008" cy="64008"/>
          </a:xfrm>
          <a:prstGeom prst="ellipse">
            <a:avLst/>
          </a:prstGeom>
          <a:solidFill>
            <a:srgbClr val="C99A3B"/>
          </a:solidFill>
          <a:ln/>
        </p:spPr>
      </p:sp>
      <p:sp>
        <p:nvSpPr>
          <p:cNvPr id="13" name="Text 10"/>
          <p:cNvSpPr/>
          <p:nvPr/>
        </p:nvSpPr>
        <p:spPr>
          <a:xfrm>
            <a:off x="0" y="6470723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F2A52"/>
          </a:solidFill>
          <a:ln/>
          <a:effectLst>
            <a:outerShdw blurRad="63500" dist="25400" dir="5400000" algn="bl" rotWithShape="0">
              <a:srgbClr val="0F2A52">
                <a:alpha val="28000"/>
              </a:srgbClr>
            </a:outerShdw>
          </a:effectLst>
        </p:spPr>
      </p:sp>
      <p:pic>
        <p:nvPicPr>
          <p:cNvPr id="3" name="Image 0" descr="/home/claude/work/icons/excla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50" y="495082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55778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566928" cy="32004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463040"/>
            <a:ext cx="5454396" cy="4892040"/>
          </a:xfrm>
          <a:prstGeom prst="roundRect">
            <a:avLst>
              <a:gd name="adj" fmla="val 1682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5800" y="1719072"/>
            <a:ext cx="420624" cy="420624"/>
          </a:xfrm>
          <a:prstGeom prst="ellipse">
            <a:avLst/>
          </a:prstGeom>
          <a:solidFill>
            <a:srgbClr val="A8442E"/>
          </a:solidFill>
          <a:ln/>
        </p:spPr>
      </p:sp>
      <p:pic>
        <p:nvPicPr>
          <p:cNvPr id="9" name="Image 1" descr="/home/claude/work/icons/excla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81965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1737360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Challenges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85800" y="2240280"/>
            <a:ext cx="49971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supply chains generate large volumes of operational data, making it difficult to monitor overall performance using traditional reports. The major challenges include: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85800" y="3017520"/>
            <a:ext cx="4951476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in tracking inventory levels across warehouses.</a:t>
            </a:r>
            <a:endParaRPr lang="en-US" sz="150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visibility into delivery performance and late deliveries.</a:t>
            </a:r>
            <a:endParaRPr lang="en-US" sz="150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evaluating supplier quality, reliability, and lead time.</a:t>
            </a:r>
            <a:endParaRPr lang="en-US" sz="150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insights into transportation costs and shipping efficiency.</a:t>
            </a:r>
            <a:endParaRPr lang="en-US" sz="150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in monitoring warehouse utilization and capacity.</a:t>
            </a:r>
            <a:endParaRPr lang="en-US" sz="150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data, making decision-making slow and less effective.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277356" y="1463040"/>
            <a:ext cx="5454396" cy="4892040"/>
          </a:xfrm>
          <a:prstGeom prst="roundRect">
            <a:avLst>
              <a:gd name="adj" fmla="val 1682"/>
            </a:avLst>
          </a:prstGeom>
          <a:solidFill>
            <a:srgbClr val="E7F0E7"/>
          </a:solidFill>
          <a:ln w="12700">
            <a:solidFill>
              <a:srgbClr val="0F2A52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05956" y="1719072"/>
            <a:ext cx="420624" cy="420624"/>
          </a:xfrm>
          <a:prstGeom prst="ellipse">
            <a:avLst/>
          </a:prstGeom>
          <a:solidFill>
            <a:srgbClr val="C99A3B"/>
          </a:solidFill>
          <a:ln/>
        </p:spPr>
      </p:sp>
      <p:pic>
        <p:nvPicPr>
          <p:cNvPr id="15" name="Image 2" descr="/home/claude/work/icons/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1819656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54596" y="1737360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6505956" y="2240280"/>
            <a:ext cx="49971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interactive Power BI dashboard that integrates supply chain data into a single platform, enabling users to: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505956" y="2926080"/>
            <a:ext cx="4997196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Monitor key performance indicators (KPIs).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Analyze inventory, delivery, supplier, transportation, and warehouse performance.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Identify operational bottlenecks.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Support faster and data-driven business decisions.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D7E1F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114800" y="64922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285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F2A52"/>
          </a:solidFill>
          <a:ln/>
          <a:effectLst>
            <a:outerShdw blurRad="63500" dist="25400" dir="5400000" algn="bl" rotWithShape="0">
              <a:srgbClr val="0F2A52">
                <a:alpha val="28000"/>
              </a:srgbClr>
            </a:outerShdw>
          </a:effectLst>
        </p:spPr>
      </p:sp>
      <p:pic>
        <p:nvPicPr>
          <p:cNvPr id="3" name="Image 0" descr="/home/claude/work/icons/bulls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2120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55778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566928" cy="32004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objectives of this project are: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454396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002536"/>
            <a:ext cx="475488" cy="475488"/>
          </a:xfrm>
          <a:prstGeom prst="ellipse">
            <a:avLst/>
          </a:prstGeom>
          <a:solidFill>
            <a:srgbClr val="0F2A52"/>
          </a:solidFill>
          <a:ln/>
        </p:spPr>
      </p:sp>
      <p:pic>
        <p:nvPicPr>
          <p:cNvPr id="10" name="Image 1" descr="/home/claude/work/icons/bulls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12140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61872" y="1856232"/>
            <a:ext cx="44668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interactive Power BI dashboard for supply chain analysis.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277356" y="1783080"/>
            <a:ext cx="5454396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60236" y="2002536"/>
            <a:ext cx="475488" cy="475488"/>
          </a:xfrm>
          <a:prstGeom prst="ellipse">
            <a:avLst/>
          </a:prstGeom>
          <a:solidFill>
            <a:srgbClr val="2856A3"/>
          </a:solidFill>
          <a:ln/>
        </p:spPr>
      </p:sp>
      <p:pic>
        <p:nvPicPr>
          <p:cNvPr id="14" name="Image 2" descr="/home/claude/work/icons/box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108" y="212140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82028" y="1856232"/>
            <a:ext cx="44668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Inventory, Delivery, Supplier, Transportation, and Warehouse performance.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57200" y="2880360"/>
            <a:ext cx="5454396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0080" y="3099816"/>
            <a:ext cx="475488" cy="475488"/>
          </a:xfrm>
          <a:prstGeom prst="ellipse">
            <a:avLst/>
          </a:prstGeom>
          <a:solidFill>
            <a:srgbClr val="0F2A52"/>
          </a:solidFill>
          <a:ln/>
        </p:spPr>
      </p:sp>
      <p:pic>
        <p:nvPicPr>
          <p:cNvPr id="18" name="Image 3" descr="/home/claude/work/icons/line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21868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61872" y="2953512"/>
            <a:ext cx="44668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important Key Performance Indicators (KPIs) using DAX measures</a:t>
            </a:r>
            <a:r>
              <a:rPr lang="en-US" sz="12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277356" y="2880360"/>
            <a:ext cx="5454396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60236" y="3099816"/>
            <a:ext cx="475488" cy="475488"/>
          </a:xfrm>
          <a:prstGeom prst="ellipse">
            <a:avLst/>
          </a:prstGeom>
          <a:solidFill>
            <a:srgbClr val="2856A3"/>
          </a:solidFill>
          <a:ln/>
        </p:spPr>
      </p:sp>
      <p:pic>
        <p:nvPicPr>
          <p:cNvPr id="22" name="Image 4" descr="/home/claude/work/icons/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9108" y="3218688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082028" y="2953512"/>
            <a:ext cx="44668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inventory movement, stock levels, delivery efficiency, and supplier performance.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457200" y="3977640"/>
            <a:ext cx="5454396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40080" y="4197096"/>
            <a:ext cx="475488" cy="475488"/>
          </a:xfrm>
          <a:prstGeom prst="ellipse">
            <a:avLst/>
          </a:prstGeom>
          <a:solidFill>
            <a:srgbClr val="0F2A52"/>
          </a:solidFill>
          <a:ln/>
        </p:spPr>
      </p:sp>
      <p:pic>
        <p:nvPicPr>
          <p:cNvPr id="26" name="Image 5" descr="/home/claude/work/icons/exclai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" y="4315968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261872" y="4050792"/>
            <a:ext cx="44668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operational issues such as late deliveries, slow-moving inventory, and warehouse utilization</a:t>
            </a:r>
            <a:r>
              <a:rPr lang="en-US" sz="12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6277356" y="3977640"/>
            <a:ext cx="5454396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6460236" y="4197096"/>
            <a:ext cx="475488" cy="475488"/>
          </a:xfrm>
          <a:prstGeom prst="ellipse">
            <a:avLst/>
          </a:prstGeom>
          <a:solidFill>
            <a:srgbClr val="2856A3"/>
          </a:solidFill>
          <a:ln/>
        </p:spPr>
      </p:sp>
      <p:pic>
        <p:nvPicPr>
          <p:cNvPr id="30" name="Image 6" descr="/home/claude/work/icons/filt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9108" y="4315968"/>
            <a:ext cx="237744" cy="23774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082028" y="4050792"/>
            <a:ext cx="44668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interactive data analysis using filters and slicers.</a:t>
            </a:r>
            <a:endParaRPr lang="en-US" sz="1400" dirty="0"/>
          </a:p>
        </p:txBody>
      </p:sp>
      <p:sp>
        <p:nvSpPr>
          <p:cNvPr id="32" name="Shape 23"/>
          <p:cNvSpPr/>
          <p:nvPr/>
        </p:nvSpPr>
        <p:spPr>
          <a:xfrm>
            <a:off x="457200" y="5074920"/>
            <a:ext cx="1127455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640080" y="5294376"/>
            <a:ext cx="475488" cy="475488"/>
          </a:xfrm>
          <a:prstGeom prst="ellipse">
            <a:avLst/>
          </a:prstGeom>
          <a:solidFill>
            <a:srgbClr val="0F2A52"/>
          </a:solidFill>
          <a:ln/>
        </p:spPr>
      </p:sp>
      <p:pic>
        <p:nvPicPr>
          <p:cNvPr id="34" name="Image 7" descr="/home/claude/work/icons/checkcirc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952" y="5413248"/>
            <a:ext cx="237744" cy="23774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1261872" y="5148072"/>
            <a:ext cx="10287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data-driven decision-making through meaningful visualizations and insights.</a:t>
            </a:r>
            <a:endParaRPr lang="en-US" sz="1400" dirty="0"/>
          </a:p>
        </p:txBody>
      </p:sp>
      <p:sp>
        <p:nvSpPr>
          <p:cNvPr id="36" name="Shape 26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D7E1F0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</a:t>
            </a:r>
            <a:endParaRPr lang="en-US" sz="1200" dirty="0"/>
          </a:p>
        </p:txBody>
      </p:sp>
      <p:sp>
        <p:nvSpPr>
          <p:cNvPr id="38" name="Text 28"/>
          <p:cNvSpPr/>
          <p:nvPr/>
        </p:nvSpPr>
        <p:spPr>
          <a:xfrm>
            <a:off x="4114800" y="64922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850" dirty="0"/>
          </a:p>
        </p:txBody>
      </p:sp>
      <p:sp>
        <p:nvSpPr>
          <p:cNvPr id="39" name="Text 29"/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285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457200" y="557784"/>
            <a:ext cx="1082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smtClean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566928" cy="32004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20" name="Shape BoxWHA"/>
          <p:cNvSpPr/>
          <p:nvPr/>
        </p:nvSpPr>
        <p:spPr>
          <a:xfrm>
            <a:off x="457200" y="1417320"/>
            <a:ext cx="5524500" cy="2377440"/>
          </a:xfrm>
          <a:prstGeom prst="roundRect">
            <a:avLst>
              <a:gd name="adj" fmla="val 2200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21" name="Shape AccentWHA"/>
          <p:cNvSpPr/>
          <p:nvPr/>
        </p:nvSpPr>
        <p:spPr>
          <a:xfrm>
            <a:off x="731520" y="1567542"/>
            <a:ext cx="73152" cy="1554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22" name="Text HeaderWHA"/>
          <p:cNvSpPr/>
          <p:nvPr/>
        </p:nvSpPr>
        <p:spPr>
          <a:xfrm>
            <a:off x="896112" y="1544682"/>
            <a:ext cx="4920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600" dirty="0"/>
          </a:p>
        </p:txBody>
      </p:sp>
      <p:sp>
        <p:nvSpPr>
          <p:cNvPr id="23" name="Text BodyWHA"/>
          <p:cNvSpPr/>
          <p:nvPr/>
        </p:nvSpPr>
        <p:spPr>
          <a:xfrm>
            <a:off x="731520" y="1785038"/>
            <a:ext cx="4975860" cy="171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4592" indent="-164592" algn="just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an interactive Business Intelligence solution using Power BI.</a:t>
            </a:r>
            <a:endParaRPr lang="en-US" sz="1150" dirty="0"/>
          </a:p>
          <a:p>
            <a:pPr marL="164592" indent="-164592" algn="just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different stages of the supply chain, including Inventory, Delivery, Supplier, Transportation, and Warehouse Performance.</a:t>
            </a:r>
            <a:endParaRPr lang="en-US" sz="1150" dirty="0"/>
          </a:p>
          <a:p>
            <a:pPr marL="164592" indent="-164592" algn="just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interactive dashboards using DAX measures, KPIs, and visualizations.</a:t>
            </a:r>
            <a:endParaRPr lang="en-US" sz="1150" dirty="0"/>
          </a:p>
          <a:p>
            <a:pPr marL="164592" indent="-164592" algn="just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star schema data model to improve reporting and analysis.</a:t>
            </a:r>
            <a:endParaRPr lang="en-US" sz="1150" dirty="0"/>
          </a:p>
          <a:p>
            <a:pPr marL="164592" indent="-164592" algn="just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users to monitor operational performance and support data-driven decision-making.</a:t>
            </a:r>
            <a:endParaRPr lang="en-US" sz="1150" dirty="0"/>
          </a:p>
          <a:p>
            <a:pPr marL="164592" indent="-164592" algn="just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filters and slicers for interactive analysis across multiple business areas.</a:t>
            </a:r>
            <a:endParaRPr lang="en-US" sz="1150" dirty="0"/>
          </a:p>
        </p:txBody>
      </p:sp>
      <p:sp>
        <p:nvSpPr>
          <p:cNvPr id="40" name="Shape BoxTOO"/>
          <p:cNvSpPr/>
          <p:nvPr/>
        </p:nvSpPr>
        <p:spPr>
          <a:xfrm>
            <a:off x="6210300" y="1417320"/>
            <a:ext cx="5524500" cy="2377440"/>
          </a:xfrm>
          <a:prstGeom prst="roundRect">
            <a:avLst>
              <a:gd name="adj" fmla="val 2200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41" name="Shape AccentTOO"/>
          <p:cNvSpPr/>
          <p:nvPr/>
        </p:nvSpPr>
        <p:spPr>
          <a:xfrm>
            <a:off x="6484620" y="1580605"/>
            <a:ext cx="73152" cy="1554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42" name="Text HeaderTOO"/>
          <p:cNvSpPr/>
          <p:nvPr/>
        </p:nvSpPr>
        <p:spPr>
          <a:xfrm>
            <a:off x="6649212" y="1557745"/>
            <a:ext cx="4920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600" dirty="0"/>
          </a:p>
        </p:txBody>
      </p:sp>
      <p:sp>
        <p:nvSpPr>
          <p:cNvPr id="43" name="Text BodyTOO"/>
          <p:cNvSpPr/>
          <p:nvPr/>
        </p:nvSpPr>
        <p:spPr>
          <a:xfrm>
            <a:off x="6484620" y="1915668"/>
            <a:ext cx="4975860" cy="171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4592" indent="-164592" algn="l">
              <a:lnSpc>
                <a:spcPct val="104000"/>
              </a:lnSpc>
              <a:spcAft>
                <a:spcPts val="300"/>
              </a:spcAft>
              <a:buSzPct val="100000"/>
            </a:pPr>
            <a:endParaRPr lang="en-US" sz="1100" dirty="0"/>
          </a:p>
        </p:txBody>
      </p:sp>
      <p:sp>
        <p:nvSpPr>
          <p:cNvPr id="60" name="Shape BoxDAT"/>
          <p:cNvSpPr/>
          <p:nvPr/>
        </p:nvSpPr>
        <p:spPr>
          <a:xfrm>
            <a:off x="457200" y="4023360"/>
            <a:ext cx="5524500" cy="2377440"/>
          </a:xfrm>
          <a:prstGeom prst="roundRect">
            <a:avLst>
              <a:gd name="adj" fmla="val 2200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61" name="Shape AccentDAT"/>
          <p:cNvSpPr/>
          <p:nvPr/>
        </p:nvSpPr>
        <p:spPr>
          <a:xfrm>
            <a:off x="731520" y="4160519"/>
            <a:ext cx="73152" cy="1554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62" name="Text HeaderDAT"/>
          <p:cNvSpPr/>
          <p:nvPr/>
        </p:nvSpPr>
        <p:spPr>
          <a:xfrm>
            <a:off x="896112" y="4137659"/>
            <a:ext cx="4920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 &amp; OVERVIEW</a:t>
            </a:r>
            <a:endParaRPr lang="en-US" sz="1300" dirty="0"/>
          </a:p>
        </p:txBody>
      </p:sp>
      <p:sp>
        <p:nvSpPr>
          <p:cNvPr id="63" name="Text BodyDAT"/>
          <p:cNvSpPr/>
          <p:nvPr/>
        </p:nvSpPr>
        <p:spPr>
          <a:xfrm>
            <a:off x="731520" y="4430267"/>
            <a:ext cx="4975860" cy="171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4592" indent="-164592" algn="just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DataCo Global Supply Chain Dataset</a:t>
            </a:r>
            <a:endParaRPr lang="en-US" sz="1150" dirty="0"/>
          </a:p>
          <a:p>
            <a:pPr marL="164592" indent="-164592" algn="just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</a:t>
            </a:r>
            <a:endParaRPr lang="en-US" sz="1150" dirty="0"/>
          </a:p>
          <a:p>
            <a:pPr marL="164592" indent="-164592" algn="just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Imported into PostgreSQL and connected to Power BI</a:t>
            </a:r>
            <a:endParaRPr lang="en-US" sz="1150" dirty="0"/>
          </a:p>
          <a:p>
            <a:pPr marL="164592" indent="-164592" algn="just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Customer, Product &amp; Order details</a:t>
            </a:r>
            <a:endParaRPr lang="en-US" sz="1150" dirty="0"/>
          </a:p>
          <a:p>
            <a:pPr marL="164592" indent="-164592" algn="just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Warehouse information</a:t>
            </a:r>
            <a:endParaRPr lang="en-US" sz="1150" dirty="0"/>
          </a:p>
          <a:p>
            <a:pPr marL="164592" indent="-164592" algn="just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&amp; Shipping data</a:t>
            </a:r>
            <a:endParaRPr lang="en-US" sz="1150" dirty="0"/>
          </a:p>
          <a:p>
            <a:pPr marL="164592" indent="-164592" algn="just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Profit &amp; Discount details</a:t>
            </a:r>
            <a:endParaRPr lang="en-US" sz="1150" dirty="0"/>
          </a:p>
          <a:p>
            <a:pPr marL="164592" indent="-164592" algn="just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status &amp; Regional information</a:t>
            </a:r>
            <a:endParaRPr lang="en-US" sz="1150" dirty="0"/>
          </a:p>
        </p:txBody>
      </p:sp>
      <p:sp>
        <p:nvSpPr>
          <p:cNvPr id="80" name="Shape BoxDAT"/>
          <p:cNvSpPr/>
          <p:nvPr/>
        </p:nvSpPr>
        <p:spPr>
          <a:xfrm>
            <a:off x="6210300" y="4023360"/>
            <a:ext cx="5524500" cy="2377440"/>
          </a:xfrm>
          <a:prstGeom prst="roundRect">
            <a:avLst>
              <a:gd name="adj" fmla="val 2200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81" name="Shape AccentDAT"/>
          <p:cNvSpPr/>
          <p:nvPr/>
        </p:nvSpPr>
        <p:spPr>
          <a:xfrm>
            <a:off x="6484620" y="4160519"/>
            <a:ext cx="73152" cy="1554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82" name="Text HeaderDAT"/>
          <p:cNvSpPr/>
          <p:nvPr/>
        </p:nvSpPr>
        <p:spPr>
          <a:xfrm>
            <a:off x="6649212" y="4137659"/>
            <a:ext cx="4920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</a:t>
            </a:r>
            <a:r>
              <a:rPr lang="en-US" sz="1300" b="1" kern="0" spc="50" dirty="0" smtClean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PROCESSING</a:t>
            </a:r>
            <a:endParaRPr lang="en-US" sz="1300" dirty="0"/>
          </a:p>
        </p:txBody>
      </p:sp>
      <p:sp>
        <p:nvSpPr>
          <p:cNvPr id="83" name="Text BodyDAT"/>
          <p:cNvSpPr/>
          <p:nvPr/>
        </p:nvSpPr>
        <p:spPr>
          <a:xfrm>
            <a:off x="6484620" y="4430267"/>
            <a:ext cx="4975860" cy="171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4592" indent="-164592" algn="just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 smtClean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</a:t>
            </a:r>
            <a:r>
              <a:rPr lang="en-US" sz="11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transformed the data using Power Query.</a:t>
            </a:r>
            <a:endParaRPr lang="en-US" sz="1150" dirty="0"/>
          </a:p>
          <a:p>
            <a:pPr marL="164592" indent="-164592" algn="just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 records and unnecessary columns.</a:t>
            </a:r>
            <a:endParaRPr lang="en-US" sz="1150" dirty="0"/>
          </a:p>
          <a:p>
            <a:pPr marL="164592" indent="-164592" algn="just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columns and corrected data types wherever required.</a:t>
            </a:r>
            <a:endParaRPr lang="en-US" sz="1150" dirty="0"/>
          </a:p>
          <a:p>
            <a:pPr marL="164592" indent="-164592" algn="just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Star Schema by separating fact and dimension tables.</a:t>
            </a:r>
            <a:endParaRPr lang="en-US" sz="1150" dirty="0"/>
          </a:p>
          <a:p>
            <a:pPr marL="164592" indent="-164592" algn="just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relationships between tables for efficient data analysis.</a:t>
            </a:r>
            <a:endParaRPr lang="en-US" sz="1150" dirty="0"/>
          </a:p>
          <a:p>
            <a:pPr marL="164592" indent="-164592" algn="just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calculated columns, DAX measures, and KPIs required for dashboard development.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D7E1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114800" y="64922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Dataset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285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210300" y="1926337"/>
          <a:ext cx="5524500" cy="1907549"/>
        </p:xfrm>
        <a:graphic>
          <a:graphicData uri="http://schemas.openxmlformats.org/drawingml/2006/table">
            <a:tbl>
              <a:tblPr/>
              <a:tblGrid>
                <a:gridCol w="2050580"/>
                <a:gridCol w="3473920"/>
              </a:tblGrid>
              <a:tr h="3366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2"/>
                    </a:solidFill>
                  </a:tcPr>
                </a:tc>
              </a:tr>
              <a:tr h="2921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Desktop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Development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1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Query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Cleaning &amp; Transformation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B"/>
                    </a:solidFill>
                  </a:tcPr>
                </a:tc>
              </a:tr>
              <a:tr h="2921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&amp; Measure Calculations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1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Modeling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 Schema &amp; Relationships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B"/>
                    </a:solidFill>
                  </a:tcPr>
                </a:tc>
              </a:tr>
              <a:tr h="3632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Documentation &amp; Version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F2A52"/>
          </a:solidFill>
          <a:ln/>
          <a:effectLst>
            <a:outerShdw blurRad="63500" dist="25400" dir="5400000" algn="bl" rotWithShape="0">
              <a:srgbClr val="0F2A52">
                <a:alpha val="28000"/>
              </a:srgbClr>
            </a:outerShdw>
          </a:effectLst>
        </p:spPr>
      </p:sp>
      <p:pic>
        <p:nvPicPr>
          <p:cNvPr id="3" name="Image 0" descr="/home/claude/work/icons/sit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2120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55778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566928" cy="32004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1" y="1129935"/>
            <a:ext cx="11274552" cy="1208316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13232" y="1220066"/>
            <a:ext cx="82296" cy="173736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9" name="Text 6"/>
          <p:cNvSpPr/>
          <p:nvPr/>
        </p:nvSpPr>
        <p:spPr>
          <a:xfrm>
            <a:off x="896112" y="1179571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OVERVIEW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13232" y="1489162"/>
            <a:ext cx="11018520" cy="7315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just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Star Schema to organize the dataset for efficient reporting and analysis.</a:t>
            </a:r>
            <a:endParaRPr lang="en-US" sz="1400" dirty="0"/>
          </a:p>
          <a:p>
            <a:pPr marL="203200" indent="-203200" algn="just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one Fact Table containing transactional order </a:t>
            </a:r>
            <a:r>
              <a:rPr lang="en-US" sz="1400" dirty="0" smtClean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multiple </a:t>
            </a:r>
            <a:r>
              <a:rPr lang="en-US" sz="14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Tables for Customers, Products, Suppliers, Warehouses, Shipping, Date, and Locations.</a:t>
            </a:r>
            <a:endParaRPr lang="en-US" sz="1400" dirty="0"/>
          </a:p>
          <a:p>
            <a:pPr marL="203200" indent="-203200" algn="just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one-to-many relationships between the Fact Table and Dimension Tables</a:t>
            </a:r>
            <a:r>
              <a:rPr lang="en-US" sz="1400" dirty="0" smtClean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505989" y="416663"/>
            <a:ext cx="50890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114800" y="3017520"/>
            <a:ext cx="7616952" cy="3291840"/>
          </a:xfrm>
          <a:prstGeom prst="roundRect">
            <a:avLst>
              <a:gd name="adj" fmla="val 1308"/>
            </a:avLst>
          </a:prstGeom>
          <a:solidFill>
            <a:srgbClr val="FFFFFF"/>
          </a:solidFill>
          <a:ln w="15875">
            <a:solidFill>
              <a:srgbClr val="D7E1F0"/>
            </a:solidFill>
            <a:prstDash val="solid"/>
          </a:ln>
          <a:effectLst>
            <a:outerShdw blurRad="114300" dist="25400" dir="5400000" algn="bl" rotWithShape="0">
              <a:srgbClr val="1B2A41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114800" y="2997943"/>
            <a:ext cx="7616952" cy="4572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18" name="Text 13"/>
          <p:cNvSpPr/>
          <p:nvPr/>
        </p:nvSpPr>
        <p:spPr>
          <a:xfrm>
            <a:off x="4892040" y="6016752"/>
            <a:ext cx="6839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Data Model — Power BI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D7E1F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114800" y="64922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285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  <p:pic>
        <p:nvPicPr>
          <p:cNvPr id="1026" name="Picture 2" descr="E:\Infosys\PPT Data Model.jpe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" y="2377440"/>
            <a:ext cx="11274551" cy="418011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F2A52"/>
          </a:solidFill>
          <a:ln/>
          <a:effectLst>
            <a:outerShdw blurRad="63500" dist="25400" dir="5400000" algn="bl" rotWithShape="0">
              <a:srgbClr val="0F2A52">
                <a:alpha val="28000"/>
              </a:srgbClr>
            </a:outerShdw>
          </a:effectLst>
        </p:spPr>
      </p:sp>
      <p:pic>
        <p:nvPicPr>
          <p:cNvPr id="3" name="Image 0" descr="/home/claude/work/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2120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55778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</a:t>
            </a:r>
            <a:r>
              <a:rPr lang="en-US" sz="2700" b="1" dirty="0" smtClean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&amp; Key Features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566928" cy="32004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220725"/>
            <a:ext cx="5120640" cy="5180076"/>
          </a:xfrm>
          <a:prstGeom prst="roundRect">
            <a:avLst>
              <a:gd name="adj" fmla="val 1682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860" y="1405563"/>
            <a:ext cx="72731" cy="173736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12" name="Text 9"/>
          <p:cNvSpPr/>
          <p:nvPr/>
        </p:nvSpPr>
        <p:spPr>
          <a:xfrm>
            <a:off x="685740" y="1378131"/>
            <a:ext cx="49133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FLOW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02860" y="1783080"/>
            <a:ext cx="5074980" cy="530352"/>
          </a:xfrm>
          <a:prstGeom prst="roundRect">
            <a:avLst>
              <a:gd name="adj" fmla="val 10345"/>
            </a:avLst>
          </a:prstGeom>
          <a:solidFill>
            <a:srgbClr val="2362BF">
              <a:alpha val="85882"/>
            </a:srgbClr>
          </a:solidFill>
          <a:ln/>
          <a:effectLst>
            <a:outerShdw blurRad="50800" dist="12700" dir="5400000" algn="bl" rotWithShape="0">
              <a:srgbClr val="1B2A41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2588" y="1892808"/>
            <a:ext cx="274760" cy="310896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5" name="Image 1" descr="/home/claude/work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40" y="1965960"/>
            <a:ext cx="145461" cy="164592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16" name="Text 12"/>
          <p:cNvSpPr/>
          <p:nvPr/>
        </p:nvSpPr>
        <p:spPr>
          <a:xfrm>
            <a:off x="1033212" y="1783080"/>
            <a:ext cx="450929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2609892" y="2295144"/>
            <a:ext cx="2424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02860" y="2441448"/>
            <a:ext cx="5074980" cy="530352"/>
          </a:xfrm>
          <a:prstGeom prst="roundRect">
            <a:avLst>
              <a:gd name="adj" fmla="val 10345"/>
            </a:avLst>
          </a:prstGeom>
          <a:solidFill>
            <a:srgbClr val="4EA8DA"/>
          </a:solidFill>
          <a:ln/>
          <a:effectLst>
            <a:outerShdw blurRad="50800" dist="12700" dir="5400000" algn="bl" rotWithShape="0">
              <a:srgbClr val="1B2A41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2588" y="2551176"/>
            <a:ext cx="274760" cy="310896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0" name="Image 2" descr="/home/claude/work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40" y="2624328"/>
            <a:ext cx="145461" cy="164592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21" name="Text 16"/>
          <p:cNvSpPr/>
          <p:nvPr/>
        </p:nvSpPr>
        <p:spPr>
          <a:xfrm>
            <a:off x="1033212" y="2441448"/>
            <a:ext cx="450929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2583766" y="295351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02860" y="3099816"/>
            <a:ext cx="5074980" cy="530352"/>
          </a:xfrm>
          <a:prstGeom prst="roundRect">
            <a:avLst>
              <a:gd name="adj" fmla="val 10345"/>
            </a:avLst>
          </a:prstGeom>
          <a:solidFill>
            <a:srgbClr val="2362BF">
              <a:alpha val="85882"/>
            </a:srgbClr>
          </a:solidFill>
          <a:ln/>
          <a:effectLst>
            <a:outerShdw blurRad="50800" dist="12700" dir="5400000" algn="bl" rotWithShape="0">
              <a:srgbClr val="1B2A41">
                <a:alpha val="14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12588" y="3209544"/>
            <a:ext cx="274760" cy="310896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5" name="Image 3" descr="/home/claude/work/icons/fil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40" y="3282696"/>
            <a:ext cx="145461" cy="164592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26" name="Text 20"/>
          <p:cNvSpPr/>
          <p:nvPr/>
        </p:nvSpPr>
        <p:spPr>
          <a:xfrm>
            <a:off x="1033212" y="3099816"/>
            <a:ext cx="450929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(Cleaning &amp; Transformation)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2583766" y="36118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02860" y="3758184"/>
            <a:ext cx="5074980" cy="530352"/>
          </a:xfrm>
          <a:prstGeom prst="roundRect">
            <a:avLst>
              <a:gd name="adj" fmla="val 10345"/>
            </a:avLst>
          </a:prstGeom>
          <a:solidFill>
            <a:srgbClr val="4EA8DA"/>
          </a:solidFill>
          <a:ln/>
          <a:effectLst>
            <a:outerShdw blurRad="50800" dist="12700" dir="5400000" algn="bl" rotWithShape="0">
              <a:srgbClr val="1B2A41">
                <a:alpha val="14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12588" y="3867912"/>
            <a:ext cx="274760" cy="310896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30" name="Image 4" descr="/home/claude/work/icons/site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740" y="3941064"/>
            <a:ext cx="145461" cy="164592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31" name="Text 24"/>
          <p:cNvSpPr/>
          <p:nvPr/>
        </p:nvSpPr>
        <p:spPr>
          <a:xfrm>
            <a:off x="1033212" y="3758184"/>
            <a:ext cx="450929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Data Model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2583766" y="42702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502860" y="4416552"/>
            <a:ext cx="5074980" cy="530352"/>
          </a:xfrm>
          <a:prstGeom prst="roundRect">
            <a:avLst>
              <a:gd name="adj" fmla="val 10345"/>
            </a:avLst>
          </a:prstGeom>
          <a:solidFill>
            <a:srgbClr val="2362BF">
              <a:alpha val="85882"/>
            </a:srgbClr>
          </a:solidFill>
          <a:ln/>
          <a:effectLst>
            <a:outerShdw blurRad="50800" dist="12700" dir="5400000" algn="bl" rotWithShape="0">
              <a:srgbClr val="1B2A41">
                <a:alpha val="14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12588" y="4526280"/>
            <a:ext cx="274760" cy="310896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35" name="Image 5" descr="/home/claude/work/icons/line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740" y="4599432"/>
            <a:ext cx="145461" cy="164592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36" name="Text 28"/>
          <p:cNvSpPr/>
          <p:nvPr/>
        </p:nvSpPr>
        <p:spPr>
          <a:xfrm>
            <a:off x="1033212" y="4416552"/>
            <a:ext cx="450929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&amp; KPIs</a:t>
            </a:r>
            <a:endParaRPr lang="en-US" sz="1400" dirty="0"/>
          </a:p>
        </p:txBody>
      </p:sp>
      <p:sp>
        <p:nvSpPr>
          <p:cNvPr id="37" name="Text 29"/>
          <p:cNvSpPr/>
          <p:nvPr/>
        </p:nvSpPr>
        <p:spPr>
          <a:xfrm>
            <a:off x="2583766" y="492861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502860" y="5074920"/>
            <a:ext cx="5074980" cy="530352"/>
          </a:xfrm>
          <a:prstGeom prst="roundRect">
            <a:avLst>
              <a:gd name="adj" fmla="val 10345"/>
            </a:avLst>
          </a:prstGeom>
          <a:solidFill>
            <a:srgbClr val="4EA8DA"/>
          </a:solidFill>
          <a:ln/>
          <a:effectLst>
            <a:outerShdw blurRad="50800" dist="12700" dir="5400000" algn="bl" rotWithShape="0">
              <a:srgbClr val="1B2A41">
                <a:alpha val="14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612588" y="5184648"/>
            <a:ext cx="274760" cy="310896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40" name="Image 6" descr="/home/claude/work/icons/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740" y="5257800"/>
            <a:ext cx="145461" cy="164592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41" name="Text 32"/>
          <p:cNvSpPr/>
          <p:nvPr/>
        </p:nvSpPr>
        <p:spPr>
          <a:xfrm>
            <a:off x="1033212" y="5074920"/>
            <a:ext cx="450929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</a:t>
            </a:r>
            <a:endParaRPr lang="en-US" sz="1400" dirty="0"/>
          </a:p>
        </p:txBody>
      </p:sp>
      <p:sp>
        <p:nvSpPr>
          <p:cNvPr id="42" name="Text 33"/>
          <p:cNvSpPr/>
          <p:nvPr/>
        </p:nvSpPr>
        <p:spPr>
          <a:xfrm>
            <a:off x="2583766" y="558698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43" name="Shape 34"/>
          <p:cNvSpPr/>
          <p:nvPr/>
        </p:nvSpPr>
        <p:spPr>
          <a:xfrm>
            <a:off x="502860" y="5733288"/>
            <a:ext cx="5074980" cy="530352"/>
          </a:xfrm>
          <a:prstGeom prst="roundRect">
            <a:avLst>
              <a:gd name="adj" fmla="val 10345"/>
            </a:avLst>
          </a:prstGeom>
          <a:solidFill>
            <a:srgbClr val="C99A3B"/>
          </a:solidFill>
          <a:ln/>
          <a:effectLst>
            <a:outerShdw blurRad="50800" dist="12700" dir="5400000" algn="bl" rotWithShape="0">
              <a:srgbClr val="1B2A41">
                <a:alpha val="14000"/>
              </a:srgbClr>
            </a:outerShdw>
          </a:effectLst>
        </p:spPr>
      </p:sp>
      <p:sp>
        <p:nvSpPr>
          <p:cNvPr id="44" name="Shape 35"/>
          <p:cNvSpPr/>
          <p:nvPr/>
        </p:nvSpPr>
        <p:spPr>
          <a:xfrm>
            <a:off x="612588" y="5843016"/>
            <a:ext cx="274760" cy="310896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45" name="Image 7" descr="/home/claude/work/icons/lightbul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740" y="5916168"/>
            <a:ext cx="145461" cy="164592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46" name="Text 36"/>
          <p:cNvSpPr/>
          <p:nvPr/>
        </p:nvSpPr>
        <p:spPr>
          <a:xfrm>
            <a:off x="1033212" y="5733288"/>
            <a:ext cx="450929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400" dirty="0"/>
          </a:p>
        </p:txBody>
      </p:sp>
      <p:sp>
        <p:nvSpPr>
          <p:cNvPr id="47" name="Shape 37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D7E1F0"/>
            </a:solidFill>
            <a:prstDash val="solid"/>
          </a:ln>
        </p:spPr>
      </p:sp>
      <p:sp>
        <p:nvSpPr>
          <p:cNvPr id="48" name="Text 38"/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</a:t>
            </a:r>
            <a:endParaRPr lang="en-US" sz="1200" dirty="0"/>
          </a:p>
        </p:txBody>
      </p:sp>
      <p:sp>
        <p:nvSpPr>
          <p:cNvPr id="49" name="Text 39"/>
          <p:cNvSpPr/>
          <p:nvPr/>
        </p:nvSpPr>
        <p:spPr>
          <a:xfrm>
            <a:off x="4114800" y="64922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Architecture</a:t>
            </a:r>
            <a:endParaRPr lang="en-US" sz="850" dirty="0"/>
          </a:p>
        </p:txBody>
      </p:sp>
      <p:sp>
        <p:nvSpPr>
          <p:cNvPr id="50" name="Text 40"/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285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  <p:sp>
        <p:nvSpPr>
          <p:cNvPr id="51" name="Shape 8"/>
          <p:cNvSpPr/>
          <p:nvPr/>
        </p:nvSpPr>
        <p:spPr>
          <a:xfrm>
            <a:off x="5989320" y="1220725"/>
            <a:ext cx="5742432" cy="5088635"/>
          </a:xfrm>
          <a:prstGeom prst="roundRect">
            <a:avLst>
              <a:gd name="adj" fmla="val 1682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52" name="Shape 9"/>
          <p:cNvSpPr/>
          <p:nvPr/>
        </p:nvSpPr>
        <p:spPr>
          <a:xfrm>
            <a:off x="6245352" y="1426461"/>
            <a:ext cx="82296" cy="173736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53" name="Text 12"/>
          <p:cNvSpPr/>
          <p:nvPr/>
        </p:nvSpPr>
        <p:spPr>
          <a:xfrm>
            <a:off x="6428232" y="1399029"/>
            <a:ext cx="5047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DASHBOARD FEATURES</a:t>
            </a:r>
            <a:endParaRPr lang="en-US" sz="2000" dirty="0"/>
          </a:p>
        </p:txBody>
      </p:sp>
      <p:sp>
        <p:nvSpPr>
          <p:cNvPr id="54" name="Text 13"/>
          <p:cNvSpPr/>
          <p:nvPr/>
        </p:nvSpPr>
        <p:spPr>
          <a:xfrm>
            <a:off x="6245352" y="1822269"/>
            <a:ext cx="5230368" cy="4361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just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 smtClean="0"/>
              <a:t>Enabled drill-through reports</a:t>
            </a:r>
            <a:r>
              <a:rPr lang="en-US" sz="1600" dirty="0" smtClean="0"/>
              <a:t> for detailed transaction-level data exploration.</a:t>
            </a:r>
          </a:p>
          <a:p>
            <a:pPr marL="203200" indent="-203200" algn="just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 smtClean="0"/>
              <a:t>Created custom hierarchies</a:t>
            </a:r>
            <a:r>
              <a:rPr lang="en-US" sz="1600" dirty="0" smtClean="0"/>
              <a:t> for seamless drill-down and roll-up analysis.</a:t>
            </a:r>
          </a:p>
          <a:p>
            <a:pPr marL="203200" indent="-203200" algn="just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 smtClean="0"/>
              <a:t>Added interactive slicers</a:t>
            </a:r>
            <a:r>
              <a:rPr lang="en-US" sz="1600" dirty="0" smtClean="0"/>
              <a:t> for dynamic filtering across dashboards.</a:t>
            </a:r>
          </a:p>
          <a:p>
            <a:pPr marL="203200" indent="-203200" algn="just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 smtClean="0"/>
              <a:t> </a:t>
            </a:r>
            <a:r>
              <a:rPr lang="en-US" sz="1600" b="1" dirty="0" smtClean="0"/>
              <a:t>Implemented trend analysis and forecasting</a:t>
            </a:r>
            <a:r>
              <a:rPr lang="en-US" sz="1600" dirty="0" smtClean="0"/>
              <a:t> with confidence intervals.</a:t>
            </a:r>
          </a:p>
          <a:p>
            <a:pPr marL="203200" indent="-203200" algn="just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 smtClean="0"/>
              <a:t>Applied conditional formatting and KPI targets</a:t>
            </a:r>
            <a:r>
              <a:rPr lang="en-US" sz="1600" dirty="0" smtClean="0"/>
              <a:t> to highlight key performance indicators. </a:t>
            </a:r>
          </a:p>
          <a:p>
            <a:pPr marL="203200" indent="-203200" algn="just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 smtClean="0"/>
              <a:t>Added narrative visuals</a:t>
            </a:r>
            <a:r>
              <a:rPr lang="en-US" sz="1600" dirty="0" smtClean="0"/>
              <a:t> to generate data-driven business insights.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F2A52"/>
          </a:solidFill>
          <a:ln/>
          <a:effectLst>
            <a:outerShdw blurRad="63500" dist="25400" dir="5400000" algn="bl" rotWithShape="0">
              <a:srgbClr val="0F2A52">
                <a:alpha val="28000"/>
              </a:srgbClr>
            </a:outerShdw>
          </a:effectLst>
        </p:spPr>
      </p:sp>
      <p:pic>
        <p:nvPicPr>
          <p:cNvPr id="3" name="Image 0" descr="/home/claude/work/icons/box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2120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55778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Analytics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566928" cy="32004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371600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371600"/>
            <a:ext cx="1371600" cy="411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9" name="Text 6"/>
          <p:cNvSpPr/>
          <p:nvPr/>
        </p:nvSpPr>
        <p:spPr>
          <a:xfrm>
            <a:off x="530352" y="1499616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smtClean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38.56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57200" y="18470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 smtClean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Turnover Ratio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011680" y="1371600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011680" y="1371600"/>
            <a:ext cx="1371600" cy="411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13" name="Text 10"/>
          <p:cNvSpPr/>
          <p:nvPr/>
        </p:nvSpPr>
        <p:spPr>
          <a:xfrm>
            <a:off x="2084832" y="1499616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smtClean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6M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084832" y="1886277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Stock Quantity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566160" y="1371600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566160" y="1371600"/>
            <a:ext cx="1371600" cy="411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17" name="Text 14"/>
          <p:cNvSpPr/>
          <p:nvPr/>
        </p:nvSpPr>
        <p:spPr>
          <a:xfrm>
            <a:off x="3639312" y="1499616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smtClean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152K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3600123" y="1886276"/>
            <a:ext cx="1298448" cy="289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Moving Qty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120640" y="1371600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120640" y="1371600"/>
            <a:ext cx="1371600" cy="411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21" name="Text 18"/>
          <p:cNvSpPr/>
          <p:nvPr/>
        </p:nvSpPr>
        <p:spPr>
          <a:xfrm>
            <a:off x="5193792" y="1499616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smtClean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5167666" y="1878439"/>
            <a:ext cx="13158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2414016"/>
            <a:ext cx="6492240" cy="3008376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4944" y="2633472"/>
            <a:ext cx="82296" cy="173736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25" name="Text 22"/>
          <p:cNvSpPr/>
          <p:nvPr/>
        </p:nvSpPr>
        <p:spPr>
          <a:xfrm>
            <a:off x="877824" y="2606040"/>
            <a:ext cx="5833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94944" y="2871215"/>
            <a:ext cx="6016752" cy="2459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Turnover Ratio: 38.56, indicating the efficiency of inventory movement.</a:t>
            </a:r>
            <a:endParaRPr lang="en-US" sz="125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identified 6M Dead Stock Quantity and 152K Slow Moving Quantity, helping identify products requiring attention.</a:t>
            </a:r>
            <a:endParaRPr lang="en-US" sz="125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reorder level is 1M, supporting timely inventory replenishment.</a:t>
            </a:r>
            <a:endParaRPr lang="en-US" sz="125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value is analyzed across 10 warehouses to compare stock distribution and warehouse performance.</a:t>
            </a:r>
            <a:endParaRPr lang="en-US" sz="125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are classified into Active, Dead Stock, and Slow-Moving categories using Days Since Last Sale and Stock Quantity.</a:t>
            </a:r>
            <a:endParaRPr lang="en-US" sz="125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performance is analyzed by warehouse, product category, region, and time, enabling better inventory planning.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457200" y="5573919"/>
            <a:ext cx="82296" cy="173736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" y="5546487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DAX MEASURES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457200" y="5922698"/>
            <a:ext cx="1488643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" y="5922698"/>
            <a:ext cx="1397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Turnover Ratio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028139" y="5922698"/>
            <a:ext cx="863194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073859" y="5922698"/>
            <a:ext cx="7717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Status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2973629" y="5922698"/>
            <a:ext cx="863194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019349" y="5922698"/>
            <a:ext cx="7717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Flag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919118" y="5922698"/>
            <a:ext cx="1228039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964838" y="5922698"/>
            <a:ext cx="11365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Stock Quantity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229454" y="592269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275174" y="592269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Moving Quantity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7223760" y="2378756"/>
            <a:ext cx="4728754" cy="3818262"/>
          </a:xfrm>
          <a:prstGeom prst="roundRect">
            <a:avLst>
              <a:gd name="adj" fmla="val 1420"/>
            </a:avLst>
          </a:prstGeom>
          <a:solidFill>
            <a:srgbClr val="FFFFFF"/>
          </a:solidFill>
          <a:ln w="15875">
            <a:solidFill>
              <a:srgbClr val="D7E1F0"/>
            </a:solidFill>
            <a:prstDash val="solid"/>
          </a:ln>
          <a:effectLst>
            <a:outerShdw blurRad="114300" dist="25400" dir="5400000" algn="bl" rotWithShape="0">
              <a:srgbClr val="1B2A41">
                <a:alpha val="16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236822" y="2312136"/>
            <a:ext cx="4715691" cy="4572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42" name="Shape 38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D7E1F0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</a:t>
            </a:r>
            <a:endParaRPr lang="en-US" sz="1200" dirty="0"/>
          </a:p>
        </p:txBody>
      </p:sp>
      <p:sp>
        <p:nvSpPr>
          <p:cNvPr id="44" name="Text 40"/>
          <p:cNvSpPr/>
          <p:nvPr/>
        </p:nvSpPr>
        <p:spPr>
          <a:xfrm>
            <a:off x="4114800" y="64922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Analytics</a:t>
            </a:r>
            <a:endParaRPr lang="en-US" sz="850" dirty="0"/>
          </a:p>
        </p:txBody>
      </p:sp>
      <p:sp>
        <p:nvSpPr>
          <p:cNvPr id="45" name="Text 41"/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285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  <p:pic>
        <p:nvPicPr>
          <p:cNvPr id="46" name="Picture 45" descr="Inventory Analytics P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2414016"/>
            <a:ext cx="4728754" cy="37529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F2A52"/>
          </a:solidFill>
          <a:ln/>
          <a:effectLst>
            <a:outerShdw blurRad="63500" dist="25400" dir="5400000" algn="bl" rotWithShape="0">
              <a:srgbClr val="0F2A52">
                <a:alpha val="28000"/>
              </a:srgbClr>
            </a:outerShdw>
          </a:effectLst>
        </p:spPr>
      </p:sp>
      <p:pic>
        <p:nvPicPr>
          <p:cNvPr id="3" name="Image 0" descr="/home/claude/work/icons/tru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2120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55778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Performance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566928" cy="32004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254033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254033"/>
            <a:ext cx="1371600" cy="411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9" name="Text 6"/>
          <p:cNvSpPr/>
          <p:nvPr/>
        </p:nvSpPr>
        <p:spPr>
          <a:xfrm>
            <a:off x="530352" y="1382049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17.12%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30352" y="1747809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Rate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011680" y="1254033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011680" y="1254033"/>
            <a:ext cx="1371600" cy="411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13" name="Text 10"/>
          <p:cNvSpPr/>
          <p:nvPr/>
        </p:nvSpPr>
        <p:spPr>
          <a:xfrm>
            <a:off x="2084832" y="1382049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51.22%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084832" y="1747809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Rate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566160" y="1254033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566160" y="1254033"/>
            <a:ext cx="1371600" cy="411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17" name="Text 14"/>
          <p:cNvSpPr/>
          <p:nvPr/>
        </p:nvSpPr>
        <p:spPr>
          <a:xfrm>
            <a:off x="3639312" y="1382049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7.10K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3639312" y="1747809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Analyzed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120640" y="1254033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120640" y="1254033"/>
            <a:ext cx="1371600" cy="411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21" name="Text 18"/>
          <p:cNvSpPr/>
          <p:nvPr/>
        </p:nvSpPr>
        <p:spPr>
          <a:xfrm>
            <a:off x="5193792" y="1382049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27.63%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5193792" y="1747809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Shipping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2218070"/>
            <a:ext cx="6492240" cy="3203015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4944" y="2333023"/>
            <a:ext cx="82296" cy="173736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25" name="Text 22"/>
          <p:cNvSpPr/>
          <p:nvPr/>
        </p:nvSpPr>
        <p:spPr>
          <a:xfrm>
            <a:off x="877824" y="2305591"/>
            <a:ext cx="5833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94944" y="2544640"/>
            <a:ext cx="6016752" cy="2459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shows an On-Time Delivery Rate of 17.12% and a Late Delivery Rate of 51.22%.</a:t>
            </a:r>
            <a:endParaRPr lang="en-US" sz="125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total of 7.10K orders were analyzed, with 27.63% Advance Shipping.</a:t>
            </a:r>
            <a:endParaRPr lang="en-US" sz="125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Risk is monitored using a gauge chart, helping identify the percentage of high-risk orders.</a:t>
            </a:r>
            <a:endParaRPr lang="en-US" sz="125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performance is compared across different shipping modes using actual and scheduled shipping days.</a:t>
            </a:r>
            <a:endParaRPr lang="en-US" sz="125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analysis highlights the Late Delivery % across different order regions to identify areas with frequent delays.</a:t>
            </a:r>
            <a:endParaRPr lang="en-US" sz="125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trends over time help monitor overall shipping performance and support operational improvements.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457200" y="5495541"/>
            <a:ext cx="82296" cy="173736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" y="5468109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DAX MEASURES</a:t>
            </a:r>
            <a:endParaRPr lang="en-US" dirty="0"/>
          </a:p>
        </p:txBody>
      </p:sp>
      <p:sp>
        <p:nvSpPr>
          <p:cNvPr id="29" name="Shape 26"/>
          <p:cNvSpPr/>
          <p:nvPr/>
        </p:nvSpPr>
        <p:spPr>
          <a:xfrm>
            <a:off x="457200" y="5818194"/>
            <a:ext cx="1175918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" y="5818194"/>
            <a:ext cx="10844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%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1715414" y="5818194"/>
            <a:ext cx="1019556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761134" y="5818194"/>
            <a:ext cx="928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%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2817266" y="5818194"/>
            <a:ext cx="1175918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862986" y="5818194"/>
            <a:ext cx="10844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Variance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075481" y="5818194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121201" y="581819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Risk %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437937" y="5818194"/>
            <a:ext cx="1071677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483657" y="5818194"/>
            <a:ext cx="9802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Rate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7223759" y="2140332"/>
            <a:ext cx="4968241" cy="4012272"/>
          </a:xfrm>
          <a:prstGeom prst="roundRect">
            <a:avLst>
              <a:gd name="adj" fmla="val 1420"/>
            </a:avLst>
          </a:prstGeom>
          <a:solidFill>
            <a:srgbClr val="FFFFFF"/>
          </a:solidFill>
          <a:ln w="15875">
            <a:solidFill>
              <a:srgbClr val="D7E1F0"/>
            </a:solidFill>
            <a:prstDash val="solid"/>
          </a:ln>
          <a:effectLst>
            <a:outerShdw blurRad="114300" dist="25400" dir="5400000" algn="bl" rotWithShape="0">
              <a:srgbClr val="1B2A41">
                <a:alpha val="16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223759" y="2103128"/>
            <a:ext cx="4968241" cy="45719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42" name="Shape 38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D7E1F0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</a:t>
            </a:r>
            <a:endParaRPr lang="en-US" sz="1200" dirty="0"/>
          </a:p>
        </p:txBody>
      </p:sp>
      <p:sp>
        <p:nvSpPr>
          <p:cNvPr id="44" name="Text 40"/>
          <p:cNvSpPr/>
          <p:nvPr/>
        </p:nvSpPr>
        <p:spPr>
          <a:xfrm>
            <a:off x="4114800" y="64922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Performance</a:t>
            </a:r>
            <a:endParaRPr lang="en-US" sz="850" dirty="0"/>
          </a:p>
        </p:txBody>
      </p:sp>
      <p:sp>
        <p:nvSpPr>
          <p:cNvPr id="45" name="Text 41"/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285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  <p:pic>
        <p:nvPicPr>
          <p:cNvPr id="46" name="Picture 45" descr="Delivery Analytics P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59" y="2156670"/>
            <a:ext cx="4922608" cy="39959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F2A52"/>
          </a:solidFill>
          <a:ln/>
          <a:effectLst>
            <a:outerShdw blurRad="63500" dist="25400" dir="5400000" algn="bl" rotWithShape="0">
              <a:srgbClr val="0F2A52">
                <a:alpha val="28000"/>
              </a:srgbClr>
            </a:outerShdw>
          </a:effectLst>
        </p:spPr>
      </p:sp>
      <p:pic>
        <p:nvPicPr>
          <p:cNvPr id="3" name="Image 0" descr="/home/claude/work/icons/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2120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55778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 Performance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566928" cy="32004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214844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214844"/>
            <a:ext cx="1371600" cy="411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9" name="Text 6"/>
          <p:cNvSpPr/>
          <p:nvPr/>
        </p:nvSpPr>
        <p:spPr>
          <a:xfrm>
            <a:off x="530352" y="134286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30352" y="170862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011680" y="1214844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011680" y="1214844"/>
            <a:ext cx="1371600" cy="411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13" name="Text 10"/>
          <p:cNvSpPr/>
          <p:nvPr/>
        </p:nvSpPr>
        <p:spPr>
          <a:xfrm>
            <a:off x="2084832" y="134286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75.71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084832" y="170862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Quality Score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566160" y="1214844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566160" y="1214844"/>
            <a:ext cx="1371600" cy="411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17" name="Text 14"/>
          <p:cNvSpPr/>
          <p:nvPr/>
        </p:nvSpPr>
        <p:spPr>
          <a:xfrm>
            <a:off x="3639312" y="134286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53.90%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3639312" y="170862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Reliability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120640" y="1214844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120640" y="1214844"/>
            <a:ext cx="1371600" cy="411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21" name="Text 18"/>
          <p:cNvSpPr/>
          <p:nvPr/>
        </p:nvSpPr>
        <p:spPr>
          <a:xfrm>
            <a:off x="5193792" y="134286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days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5193792" y="170862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Lead Time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7200" y="2139693"/>
            <a:ext cx="649224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4944" y="2241582"/>
            <a:ext cx="82296" cy="173736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25" name="Text 22"/>
          <p:cNvSpPr/>
          <p:nvPr/>
        </p:nvSpPr>
        <p:spPr>
          <a:xfrm>
            <a:off x="877824" y="2214150"/>
            <a:ext cx="5833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94944" y="2505451"/>
            <a:ext cx="6016752" cy="2459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evaluates supplier performance using Quality Score, Reliability %, and Lead Time.</a:t>
            </a:r>
            <a:endParaRPr lang="en-US" sz="120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contains 118 suppliers with an Average Quality Score of 75.71 and an Average Reliability of 53.90%.</a:t>
            </a:r>
            <a:endParaRPr lang="en-US" sz="120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Lead Time across all suppliers is 17 days, helping measure supplier responsiveness.</a:t>
            </a:r>
            <a:endParaRPr lang="en-US" sz="120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 are classified into Low, Medium, and High Reliability Tiers, making it easier to identify reliable suppliers.</a:t>
            </a:r>
            <a:endParaRPr lang="en-US" sz="120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Supplier Composite Score is calculated to rank and benchmark suppliers based on overall performance.</a:t>
            </a:r>
            <a:endParaRPr lang="en-US" sz="120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scatter plot analyzes the relationship between Lead Time, Reliability, and Quality Score, supporting supplier performance evaluation.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57200" y="5521667"/>
            <a:ext cx="82296" cy="173736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" y="5494235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DAX MEASURES</a:t>
            </a:r>
            <a:endParaRPr lang="en-US" dirty="0"/>
          </a:p>
        </p:txBody>
      </p:sp>
      <p:sp>
        <p:nvSpPr>
          <p:cNvPr id="29" name="Shape 26"/>
          <p:cNvSpPr/>
          <p:nvPr/>
        </p:nvSpPr>
        <p:spPr>
          <a:xfrm>
            <a:off x="457200" y="5870446"/>
            <a:ext cx="1488643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" y="5870446"/>
            <a:ext cx="1397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Composite Score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028139" y="5870446"/>
            <a:ext cx="915314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073859" y="5870446"/>
            <a:ext cx="823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Rank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025750" y="5870446"/>
            <a:ext cx="1071677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071470" y="5870446"/>
            <a:ext cx="9802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Tier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179722" y="5870446"/>
            <a:ext cx="1123798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225442" y="5870446"/>
            <a:ext cx="1032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Quality Score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385816" y="5870446"/>
            <a:ext cx="1123798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431536" y="5870446"/>
            <a:ext cx="1032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Reliability %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7223759" y="2128936"/>
            <a:ext cx="4715691" cy="4180423"/>
          </a:xfrm>
          <a:prstGeom prst="roundRect">
            <a:avLst>
              <a:gd name="adj" fmla="val 1420"/>
            </a:avLst>
          </a:prstGeom>
          <a:solidFill>
            <a:srgbClr val="FFFFFF"/>
          </a:solidFill>
          <a:ln w="15875">
            <a:solidFill>
              <a:srgbClr val="D7E1F0"/>
            </a:solidFill>
            <a:prstDash val="solid"/>
          </a:ln>
          <a:effectLst>
            <a:outerShdw blurRad="114300" dist="25400" dir="5400000" algn="bl" rotWithShape="0">
              <a:srgbClr val="1B2A41">
                <a:alpha val="16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223759" y="2063939"/>
            <a:ext cx="4715691" cy="45719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42" name="Shape 38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D7E1F0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</a:t>
            </a:r>
            <a:endParaRPr lang="en-US" sz="1200" dirty="0"/>
          </a:p>
        </p:txBody>
      </p:sp>
      <p:sp>
        <p:nvSpPr>
          <p:cNvPr id="44" name="Text 40"/>
          <p:cNvSpPr/>
          <p:nvPr/>
        </p:nvSpPr>
        <p:spPr>
          <a:xfrm>
            <a:off x="4114800" y="64922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Performance</a:t>
            </a:r>
            <a:endParaRPr lang="en-US" sz="850" dirty="0"/>
          </a:p>
        </p:txBody>
      </p:sp>
      <p:sp>
        <p:nvSpPr>
          <p:cNvPr id="45" name="Text 41"/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285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  <p:pic>
        <p:nvPicPr>
          <p:cNvPr id="46" name="Picture 45" descr="Supplier Scorecard P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59" y="2139693"/>
            <a:ext cx="4715691" cy="41696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F2A52"/>
          </a:solidFill>
          <a:ln/>
          <a:effectLst>
            <a:outerShdw blurRad="63500" dist="25400" dir="5400000" algn="bl" rotWithShape="0">
              <a:srgbClr val="0F2A52">
                <a:alpha val="28000"/>
              </a:srgbClr>
            </a:outerShdw>
          </a:effectLst>
        </p:spPr>
      </p:sp>
      <p:pic>
        <p:nvPicPr>
          <p:cNvPr id="3" name="Image 0" descr="/home/claude/work/icons/wareho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2120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55778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Warehouse Efficiency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566928" cy="32004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214844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214844"/>
            <a:ext cx="1371600" cy="411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9" name="Text 6"/>
          <p:cNvSpPr/>
          <p:nvPr/>
        </p:nvSpPr>
        <p:spPr>
          <a:xfrm>
            <a:off x="530352" y="134286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84.24%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30352" y="170862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Utilization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011680" y="1214844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011680" y="1214844"/>
            <a:ext cx="1371600" cy="411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13" name="Text 10"/>
          <p:cNvSpPr/>
          <p:nvPr/>
        </p:nvSpPr>
        <p:spPr>
          <a:xfrm>
            <a:off x="2084832" y="134286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15.93%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084832" y="170862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Utilization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566160" y="1214844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566160" y="1214844"/>
            <a:ext cx="1371600" cy="411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17" name="Text 14"/>
          <p:cNvSpPr/>
          <p:nvPr/>
        </p:nvSpPr>
        <p:spPr>
          <a:xfrm>
            <a:off x="3639312" y="134286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55.15%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3639312" y="170862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Utilization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120640" y="1214844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120640" y="1214844"/>
            <a:ext cx="1371600" cy="411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21" name="Text 18"/>
          <p:cNvSpPr/>
          <p:nvPr/>
        </p:nvSpPr>
        <p:spPr>
          <a:xfrm>
            <a:off x="5193792" y="134286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5193792" y="170862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2152756"/>
            <a:ext cx="649224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4944" y="2254645"/>
            <a:ext cx="82296" cy="173736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25" name="Text 22"/>
          <p:cNvSpPr/>
          <p:nvPr/>
        </p:nvSpPr>
        <p:spPr>
          <a:xfrm>
            <a:off x="877824" y="2227213"/>
            <a:ext cx="5833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94944" y="2544640"/>
            <a:ext cx="6016752" cy="2459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provides an overview of warehouse performance by analyzing capacity utilization, stock movement, and operational efficiency across 10 warehouses.</a:t>
            </a:r>
            <a:endParaRPr lang="en-US" sz="120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Maximum Warehouse Utilization is 84.24%, while the Minimum Utilization is 15.93%.</a:t>
            </a:r>
            <a:endParaRPr lang="en-US" sz="120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Warehouse Utilization is 55.15%, providing an overall view of warehouse capacity usage.</a:t>
            </a:r>
            <a:endParaRPr lang="en-US" sz="120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performance is compared using Units Shipped, Total Stock, Total Sales, and Utilization Percentage.</a:t>
            </a:r>
            <a:endParaRPr lang="en-US" sz="120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scatter plot analyzes the relationship between Warehouse Capacity, Total Stock, and Utilization, helping identify capacity utilization patterns.</a:t>
            </a:r>
            <a:endParaRPr lang="en-US" sz="120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 allow warehouse performance to be filtered by Warehouse Name, Capacity Risk Flag, and Product Category.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57200" y="5508604"/>
            <a:ext cx="82296" cy="173736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" y="5481172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DAX MEASURES</a:t>
            </a:r>
            <a:endParaRPr lang="en-US" dirty="0"/>
          </a:p>
        </p:txBody>
      </p:sp>
      <p:sp>
        <p:nvSpPr>
          <p:cNvPr id="29" name="Shape 26"/>
          <p:cNvSpPr/>
          <p:nvPr/>
        </p:nvSpPr>
        <p:spPr>
          <a:xfrm>
            <a:off x="457200" y="5844320"/>
            <a:ext cx="1645006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" y="5844320"/>
            <a:ext cx="15535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Warehouse Utilization %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184502" y="5844320"/>
            <a:ext cx="1175918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230222" y="5844320"/>
            <a:ext cx="10844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Risk Flag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442716" y="5844320"/>
            <a:ext cx="1436522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488436" y="5844320"/>
            <a:ext cx="13450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Utilization %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61534" y="5844320"/>
            <a:ext cx="1228039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007254" y="5844320"/>
            <a:ext cx="11365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 Shipped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271870" y="5844320"/>
            <a:ext cx="863194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17590" y="5844320"/>
            <a:ext cx="7717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Capacity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7223760" y="2142608"/>
            <a:ext cx="4968240" cy="4166752"/>
          </a:xfrm>
          <a:prstGeom prst="roundRect">
            <a:avLst>
              <a:gd name="adj" fmla="val 1420"/>
            </a:avLst>
          </a:prstGeom>
          <a:solidFill>
            <a:srgbClr val="FFFFFF"/>
          </a:solidFill>
          <a:ln w="15875">
            <a:solidFill>
              <a:srgbClr val="D7E1F0"/>
            </a:solidFill>
            <a:prstDash val="solid"/>
          </a:ln>
          <a:effectLst>
            <a:outerShdw blurRad="114300" dist="25400" dir="5400000" algn="bl" rotWithShape="0">
              <a:srgbClr val="1B2A41">
                <a:alpha val="16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223760" y="2077002"/>
            <a:ext cx="4968240" cy="45719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42" name="Shape 38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D7E1F0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</a:t>
            </a:r>
            <a:endParaRPr lang="en-US" sz="1200" dirty="0"/>
          </a:p>
        </p:txBody>
      </p:sp>
      <p:sp>
        <p:nvSpPr>
          <p:cNvPr id="44" name="Text 40"/>
          <p:cNvSpPr/>
          <p:nvPr/>
        </p:nvSpPr>
        <p:spPr>
          <a:xfrm>
            <a:off x="4114800" y="64922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Efficiency</a:t>
            </a:r>
            <a:endParaRPr lang="en-US" sz="850" dirty="0"/>
          </a:p>
        </p:txBody>
      </p:sp>
      <p:sp>
        <p:nvSpPr>
          <p:cNvPr id="45" name="Text 41"/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 smtClean="0">
                <a:solidFill>
                  <a:srgbClr val="285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pic>
        <p:nvPicPr>
          <p:cNvPr id="46" name="Picture 45" descr="Warehouse Efficiency P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2142608"/>
            <a:ext cx="4968240" cy="41667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5"/>
          <p:cNvSpPr/>
          <p:nvPr/>
        </p:nvSpPr>
        <p:spPr>
          <a:xfrm>
            <a:off x="6357319" y="1185497"/>
            <a:ext cx="5638927" cy="4653163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5875">
            <a:solidFill>
              <a:srgbClr val="D7E1F0"/>
            </a:solidFill>
            <a:prstDash val="solid"/>
          </a:ln>
          <a:effectLst>
            <a:outerShdw blurRad="114300" dist="25400" dir="5400000" algn="bl" rotWithShape="0">
              <a:srgbClr val="1B2A41">
                <a:alpha val="16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F2A52"/>
          </a:solidFill>
          <a:ln/>
          <a:effectLst>
            <a:outerShdw blurRad="63500" dist="25400" dir="5400000" algn="bl" rotWithShape="0">
              <a:srgbClr val="0F2A52">
                <a:alpha val="28000"/>
              </a:srgbClr>
            </a:outerShdw>
          </a:effectLst>
        </p:spPr>
      </p:sp>
      <p:pic>
        <p:nvPicPr>
          <p:cNvPr id="3" name="Image 0" descr="/home/claude/work/icons/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2120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55778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Glimpse of Dashboards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005839"/>
            <a:ext cx="566928" cy="32004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8" name="Shape 5"/>
          <p:cNvSpPr/>
          <p:nvPr/>
        </p:nvSpPr>
        <p:spPr>
          <a:xfrm>
            <a:off x="143688" y="1189853"/>
            <a:ext cx="5590906" cy="4653163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5875">
            <a:solidFill>
              <a:srgbClr val="D7E1F0"/>
            </a:solidFill>
            <a:prstDash val="solid"/>
          </a:ln>
          <a:effectLst>
            <a:outerShdw blurRad="114300" dist="25400" dir="5400000" algn="bl" rotWithShape="0">
              <a:srgbClr val="1B2A41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 flipV="1">
            <a:off x="156754" y="1154382"/>
            <a:ext cx="5534592" cy="45719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11" name="Shape 7"/>
          <p:cNvSpPr/>
          <p:nvPr/>
        </p:nvSpPr>
        <p:spPr>
          <a:xfrm>
            <a:off x="585215" y="5943600"/>
            <a:ext cx="347472" cy="397790"/>
          </a:xfrm>
          <a:prstGeom prst="ellipse">
            <a:avLst/>
          </a:prstGeom>
          <a:solidFill>
            <a:srgbClr val="0F2A52"/>
          </a:solidFill>
          <a:ln/>
        </p:spPr>
      </p:sp>
      <p:pic>
        <p:nvPicPr>
          <p:cNvPr id="12" name="Image 2" descr="/home/claude/work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3" y="6049001"/>
            <a:ext cx="228381" cy="22838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7191" y="5859111"/>
            <a:ext cx="3561943" cy="482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Overview</a:t>
            </a:r>
            <a:endParaRPr lang="en-US" sz="1600" dirty="0"/>
          </a:p>
        </p:txBody>
      </p:sp>
      <p:sp>
        <p:nvSpPr>
          <p:cNvPr id="29" name="Shape 19"/>
          <p:cNvSpPr/>
          <p:nvPr/>
        </p:nvSpPr>
        <p:spPr>
          <a:xfrm>
            <a:off x="6535060" y="5943600"/>
            <a:ext cx="328614" cy="329184"/>
          </a:xfrm>
          <a:prstGeom prst="ellipse">
            <a:avLst/>
          </a:prstGeom>
          <a:solidFill>
            <a:srgbClr val="2856A3"/>
          </a:solidFill>
          <a:ln/>
        </p:spPr>
      </p:sp>
      <p:pic>
        <p:nvPicPr>
          <p:cNvPr id="30" name="Image 8" descr="/home/claude/work/icons/handsh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9067" y="5998463"/>
            <a:ext cx="210313" cy="210313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920221" y="5933893"/>
            <a:ext cx="2996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Performance</a:t>
            </a:r>
            <a:endParaRPr lang="en-US" sz="1600" dirty="0"/>
          </a:p>
        </p:txBody>
      </p:sp>
      <p:sp>
        <p:nvSpPr>
          <p:cNvPr id="44" name="Shape 29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D7E1F0"/>
            </a:solidFill>
            <a:prstDash val="solid"/>
          </a:ln>
        </p:spPr>
      </p:sp>
      <p:sp>
        <p:nvSpPr>
          <p:cNvPr id="45" name="Text 30"/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</a:t>
            </a:r>
            <a:endParaRPr lang="en-US" sz="1200" dirty="0"/>
          </a:p>
        </p:txBody>
      </p:sp>
      <p:sp>
        <p:nvSpPr>
          <p:cNvPr id="46" name="Text 31"/>
          <p:cNvSpPr/>
          <p:nvPr/>
        </p:nvSpPr>
        <p:spPr>
          <a:xfrm>
            <a:off x="4114800" y="64922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Glimpse of Dashboards</a:t>
            </a:r>
            <a:endParaRPr lang="en-US" sz="850" dirty="0"/>
          </a:p>
        </p:txBody>
      </p:sp>
      <p:sp>
        <p:nvSpPr>
          <p:cNvPr id="47" name="Text 32"/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 smtClean="0">
                <a:solidFill>
                  <a:srgbClr val="285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49" name="Shape 6"/>
          <p:cNvSpPr/>
          <p:nvPr/>
        </p:nvSpPr>
        <p:spPr>
          <a:xfrm flipV="1">
            <a:off x="6370386" y="1150027"/>
            <a:ext cx="5582129" cy="45719"/>
          </a:xfrm>
          <a:prstGeom prst="rect">
            <a:avLst/>
          </a:prstGeom>
          <a:solidFill>
            <a:srgbClr val="0F2A52"/>
          </a:solidFill>
          <a:ln/>
        </p:spPr>
      </p:sp>
      <p:pic>
        <p:nvPicPr>
          <p:cNvPr id="22" name="Picture 21" descr="Supplier Scorecard PP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6512" y="1384663"/>
            <a:ext cx="5582129" cy="4427871"/>
          </a:xfrm>
          <a:prstGeom prst="rect">
            <a:avLst/>
          </a:prstGeom>
        </p:spPr>
      </p:pic>
      <p:pic>
        <p:nvPicPr>
          <p:cNvPr id="24" name="Picture 23" descr="Fin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356" y="1280158"/>
            <a:ext cx="5357485" cy="45323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F2A52"/>
          </a:solidFill>
          <a:ln/>
          <a:effectLst>
            <a:outerShdw blurRad="63500" dist="25400" dir="5400000" algn="bl" rotWithShape="0">
              <a:srgbClr val="0F2A52">
                <a:alpha val="28000"/>
              </a:srgbClr>
            </a:outerShdw>
          </a:effectLst>
        </p:spPr>
      </p:sp>
      <p:pic>
        <p:nvPicPr>
          <p:cNvPr id="3" name="Image 0" descr="/home/claude/work/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2120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55778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566928" cy="32004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417320"/>
            <a:ext cx="5943600" cy="4892040"/>
          </a:xfrm>
          <a:prstGeom prst="roundRect">
            <a:avLst>
              <a:gd name="adj" fmla="val 1682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13232" y="1588008"/>
            <a:ext cx="82296" cy="173736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9" name="Text 6"/>
          <p:cNvSpPr/>
          <p:nvPr/>
        </p:nvSpPr>
        <p:spPr>
          <a:xfrm>
            <a:off x="896112" y="1560576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57200" y="1915160"/>
            <a:ext cx="5943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just">
              <a:lnSpc>
                <a:spcPct val="108000"/>
              </a:lnSpc>
              <a:spcAft>
                <a:spcPts val="720"/>
              </a:spcAft>
              <a:buSzPct val="100000"/>
              <a:buChar char="•"/>
            </a:pPr>
            <a:r>
              <a:rPr lang="en-US" sz="1350" b="1" dirty="0" smtClean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r>
              <a:rPr lang="en-US" sz="1350" b="1" dirty="0" smtClean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350" dirty="0" smtClean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Inventory Turnover Ratio of 38.56, with 6M units of dead stock and 152K units slow-moving — a large volume of stock sitting idle across our 10 warehouses, tying up capital and signaling an urgent need for reorder planning.</a:t>
            </a:r>
          </a:p>
          <a:p>
            <a:pPr marL="203200" indent="-203200" algn="just">
              <a:lnSpc>
                <a:spcPct val="108000"/>
              </a:lnSpc>
              <a:spcAft>
                <a:spcPts val="720"/>
              </a:spcAft>
              <a:buSzPct val="100000"/>
              <a:buChar char="•"/>
            </a:pPr>
            <a:r>
              <a:rPr lang="en-US" sz="1350" b="1" dirty="0" smtClean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Performance: </a:t>
            </a:r>
            <a:r>
              <a:rPr lang="en-US" sz="1350" dirty="0" smtClean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Rate of just 17.12% against a Late Delivery Rate of 51.22% across 7.10K orders — meaning more than half of all orders are arriving late, a critical bottleneck directly affecting customer satisfaction.</a:t>
            </a:r>
          </a:p>
          <a:p>
            <a:pPr marL="203200" indent="-203200" algn="just">
              <a:lnSpc>
                <a:spcPct val="108000"/>
              </a:lnSpc>
              <a:spcAft>
                <a:spcPts val="720"/>
              </a:spcAft>
              <a:buSzPct val="100000"/>
              <a:buChar char="•"/>
            </a:pPr>
            <a:r>
              <a:rPr lang="en-US" sz="1350" b="1" dirty="0" smtClean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Performance:</a:t>
            </a:r>
            <a:r>
              <a:rPr lang="en-US" sz="1350" dirty="0" smtClean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118 suppliers, average Quality Score is 75.71 but Reliability is only 53.90%, with a 17-day average lead time — showing that while quality holds up, delivery commitments are missed nearly half the time.</a:t>
            </a:r>
          </a:p>
          <a:p>
            <a:pPr marL="203200" indent="-203200" algn="just">
              <a:lnSpc>
                <a:spcPct val="108000"/>
              </a:lnSpc>
              <a:spcAft>
                <a:spcPts val="720"/>
              </a:spcAft>
              <a:buSzPct val="100000"/>
              <a:buChar char="•"/>
            </a:pPr>
            <a:r>
              <a:rPr lang="en-US" sz="1350" b="1" dirty="0" smtClean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</a:t>
            </a:r>
            <a:r>
              <a:rPr lang="en-US" sz="1350" b="1" dirty="0" smtClean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Efficiency:</a:t>
            </a:r>
            <a:r>
              <a:rPr lang="en-US" sz="1350" dirty="0" smtClean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Utilization ranges from 15.93% to 84.24%, averaging 55.15% across 10 warehouses — a 68-point gap between the least and most utilized site, showing capacity is unevenly distributed.</a:t>
            </a:r>
          </a:p>
          <a:p>
            <a:pPr marL="203200" indent="-203200" algn="just">
              <a:lnSpc>
                <a:spcPct val="108000"/>
              </a:lnSpc>
              <a:spcAft>
                <a:spcPts val="720"/>
              </a:spcAft>
              <a:buSzPct val="100000"/>
              <a:buChar char="•"/>
            </a:pPr>
            <a:r>
              <a:rPr lang="en-US" sz="1350" b="1" dirty="0" smtClean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Impact: </a:t>
            </a:r>
            <a:r>
              <a:rPr lang="en-US" sz="1350" dirty="0" smtClean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7,104 total orders, 87 suppliers, and a 95.97% fulfillment rate — strong fulfillment numbers mask real inefficiencies underneath, proving that "orders completed" isn't the same as "orders completed well."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720840" y="1444752"/>
            <a:ext cx="82296" cy="173736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12" name="Text 9"/>
          <p:cNvSpPr/>
          <p:nvPr/>
        </p:nvSpPr>
        <p:spPr>
          <a:xfrm>
            <a:off x="6903720" y="14173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SUMMARY BY AREA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6720840" y="1783080"/>
            <a:ext cx="50292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858000" y="1965960"/>
            <a:ext cx="347472" cy="347472"/>
          </a:xfrm>
          <a:prstGeom prst="ellipse">
            <a:avLst/>
          </a:prstGeom>
          <a:solidFill>
            <a:srgbClr val="0F2A52"/>
          </a:solidFill>
          <a:ln/>
        </p:spPr>
      </p:sp>
      <p:pic>
        <p:nvPicPr>
          <p:cNvPr id="15" name="Image 1" descr="/home/claude/work/icons/box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0296" y="2048256"/>
            <a:ext cx="182880" cy="1828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60920" y="1837944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961120" y="183794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dead stock and reorder requirements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720840" y="2587752"/>
            <a:ext cx="5029200" cy="713232"/>
          </a:xfrm>
          <a:prstGeom prst="roundRect">
            <a:avLst>
              <a:gd name="adj" fmla="val 7692"/>
            </a:avLst>
          </a:prstGeom>
          <a:solidFill>
            <a:srgbClr val="E8EFFB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858000" y="2770632"/>
            <a:ext cx="347472" cy="347472"/>
          </a:xfrm>
          <a:prstGeom prst="ellipse">
            <a:avLst/>
          </a:prstGeom>
          <a:solidFill>
            <a:srgbClr val="0F2A52"/>
          </a:solidFill>
          <a:ln/>
        </p:spPr>
      </p:sp>
      <p:pic>
        <p:nvPicPr>
          <p:cNvPr id="20" name="Image 2" descr="/home/claude/work/icons/tru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0296" y="2852928"/>
            <a:ext cx="182880" cy="1828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360920" y="2642616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8961120" y="2642616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deliveries were higher than on-time deliveries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720840" y="3392424"/>
            <a:ext cx="50292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58000" y="3575304"/>
            <a:ext cx="347472" cy="347472"/>
          </a:xfrm>
          <a:prstGeom prst="ellipse">
            <a:avLst/>
          </a:prstGeom>
          <a:solidFill>
            <a:srgbClr val="0F2A52"/>
          </a:solidFill>
          <a:ln/>
        </p:spPr>
      </p:sp>
      <p:pic>
        <p:nvPicPr>
          <p:cNvPr id="25" name="Image 3" descr="/home/claude/work/icons/handshak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0296" y="3657600"/>
            <a:ext cx="182880" cy="1828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60920" y="3447288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8961120" y="344728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benchmarking improved performance evaluation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720840" y="4197096"/>
            <a:ext cx="5029200" cy="713232"/>
          </a:xfrm>
          <a:prstGeom prst="roundRect">
            <a:avLst>
              <a:gd name="adj" fmla="val 7692"/>
            </a:avLst>
          </a:prstGeom>
          <a:solidFill>
            <a:srgbClr val="E8EFFB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858000" y="4379976"/>
            <a:ext cx="347472" cy="347472"/>
          </a:xfrm>
          <a:prstGeom prst="ellipse">
            <a:avLst/>
          </a:prstGeom>
          <a:solidFill>
            <a:srgbClr val="0F2A52"/>
          </a:solidFill>
          <a:ln/>
        </p:spPr>
      </p:sp>
      <p:pic>
        <p:nvPicPr>
          <p:cNvPr id="30" name="Image 4" descr="/home/claude/work/icons/shipp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0296" y="4462272"/>
            <a:ext cx="182880" cy="1828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360920" y="4251960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8961120" y="425196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shipping costs and shipping modes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6720840" y="5001768"/>
            <a:ext cx="50292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858000" y="5184648"/>
            <a:ext cx="347472" cy="347472"/>
          </a:xfrm>
          <a:prstGeom prst="ellipse">
            <a:avLst/>
          </a:prstGeom>
          <a:solidFill>
            <a:srgbClr val="0F2A52"/>
          </a:solidFill>
          <a:ln/>
        </p:spPr>
      </p:sp>
      <p:pic>
        <p:nvPicPr>
          <p:cNvPr id="35" name="Image 5" descr="/home/claude/work/icons/warehou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0296" y="5266944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360920" y="5056632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400" dirty="0"/>
          </a:p>
        </p:txBody>
      </p:sp>
      <p:sp>
        <p:nvSpPr>
          <p:cNvPr id="37" name="Text 29"/>
          <p:cNvSpPr/>
          <p:nvPr/>
        </p:nvSpPr>
        <p:spPr>
          <a:xfrm>
            <a:off x="8961120" y="505663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warehouse utilization and capacity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6720840" y="5806440"/>
            <a:ext cx="5029200" cy="713232"/>
          </a:xfrm>
          <a:prstGeom prst="roundRect">
            <a:avLst>
              <a:gd name="adj" fmla="val 7692"/>
            </a:avLst>
          </a:prstGeom>
          <a:solidFill>
            <a:srgbClr val="E8EFFB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6858000" y="5989320"/>
            <a:ext cx="347472" cy="347472"/>
          </a:xfrm>
          <a:prstGeom prst="ellipse">
            <a:avLst/>
          </a:prstGeom>
          <a:solidFill>
            <a:srgbClr val="0F2A52"/>
          </a:solidFill>
          <a:ln/>
        </p:spPr>
      </p:sp>
      <p:pic>
        <p:nvPicPr>
          <p:cNvPr id="40" name="Image 6" descr="/home/claude/work/icons/checkcirc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0296" y="6071616"/>
            <a:ext cx="182880" cy="18288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360920" y="5861304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400" dirty="0"/>
          </a:p>
        </p:txBody>
      </p:sp>
      <p:sp>
        <p:nvSpPr>
          <p:cNvPr id="42" name="Text 33"/>
          <p:cNvSpPr/>
          <p:nvPr/>
        </p:nvSpPr>
        <p:spPr>
          <a:xfrm>
            <a:off x="8961120" y="586130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 support better decision-making</a:t>
            </a:r>
            <a:endParaRPr lang="en-US" sz="1200" dirty="0"/>
          </a:p>
        </p:txBody>
      </p:sp>
      <p:sp>
        <p:nvSpPr>
          <p:cNvPr id="43" name="Shape 34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D7E1F0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</a:t>
            </a:r>
            <a:endParaRPr lang="en-US" sz="1200" dirty="0"/>
          </a:p>
        </p:txBody>
      </p:sp>
      <p:sp>
        <p:nvSpPr>
          <p:cNvPr id="45" name="Text 36"/>
          <p:cNvSpPr/>
          <p:nvPr/>
        </p:nvSpPr>
        <p:spPr>
          <a:xfrm>
            <a:off x="4114800" y="64922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850" dirty="0"/>
          </a:p>
        </p:txBody>
      </p:sp>
      <p:sp>
        <p:nvSpPr>
          <p:cNvPr id="46" name="Text 37"/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 smtClean="0">
                <a:solidFill>
                  <a:srgbClr val="285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F2A52"/>
          </a:solidFill>
          <a:ln/>
          <a:effectLst>
            <a:outerShdw blurRad="63500" dist="25400" dir="5400000" algn="bl" rotWithShape="0">
              <a:srgbClr val="0F2A52">
                <a:alpha val="28000"/>
              </a:srgbClr>
            </a:outerShdw>
          </a:effectLst>
        </p:spPr>
      </p:sp>
      <p:pic>
        <p:nvPicPr>
          <p:cNvPr id="3" name="Image 0" descr="/home/claude/work/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2120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55778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566928" cy="32004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463040"/>
            <a:ext cx="5454396" cy="374904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13232" y="1709928"/>
            <a:ext cx="82296" cy="173736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9" name="Text 6"/>
          <p:cNvSpPr/>
          <p:nvPr/>
        </p:nvSpPr>
        <p:spPr>
          <a:xfrm>
            <a:off x="896112" y="1682496"/>
            <a:ext cx="4759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13232" y="2029968"/>
            <a:ext cx="494233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just">
              <a:lnSpc>
                <a:spcPct val="108000"/>
              </a:lnSpc>
              <a:spcAft>
                <a:spcPts val="750"/>
              </a:spcAft>
              <a:buSzPct val="100000"/>
              <a:buChar char="•"/>
            </a:pPr>
            <a:r>
              <a:rPr lang="en-US" sz="13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an interactive Power BI solution to analyze different areas of the supply chain.</a:t>
            </a:r>
            <a:endParaRPr lang="en-US" sz="1300" dirty="0"/>
          </a:p>
          <a:p>
            <a:pPr marL="203200" indent="-203200" algn="just">
              <a:lnSpc>
                <a:spcPct val="108000"/>
              </a:lnSpc>
              <a:spcAft>
                <a:spcPts val="750"/>
              </a:spcAft>
              <a:buSzPct val="100000"/>
              <a:buChar char="•"/>
            </a:pPr>
            <a:r>
              <a:rPr lang="en-US" sz="13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six dashboards covering Supply Chain Overview, Inventory, Delivery, Supplier, Transportation, and Warehouse analytics.</a:t>
            </a:r>
            <a:endParaRPr lang="en-US" sz="1300" dirty="0"/>
          </a:p>
          <a:p>
            <a:pPr marL="203200" indent="-203200" algn="just">
              <a:lnSpc>
                <a:spcPct val="108000"/>
              </a:lnSpc>
              <a:spcAft>
                <a:spcPts val="750"/>
              </a:spcAft>
              <a:buSzPct val="100000"/>
              <a:buChar char="•"/>
            </a:pPr>
            <a:r>
              <a:rPr lang="en-US" sz="13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Power Query, DAX measures, and Star Schema to transform raw data into meaningful insights.</a:t>
            </a:r>
            <a:endParaRPr lang="en-US" sz="1300" dirty="0"/>
          </a:p>
          <a:p>
            <a:pPr marL="203200" indent="-203200" algn="just">
              <a:lnSpc>
                <a:spcPct val="108000"/>
              </a:lnSpc>
              <a:spcAft>
                <a:spcPts val="750"/>
              </a:spcAft>
              <a:buSzPct val="100000"/>
              <a:buChar char="•"/>
            </a:pPr>
            <a:r>
              <a:rPr lang="en-US" sz="13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dashboards provide clear visibility into inventory, supplier performance, delivery efficiency, transportation, and warehouse operations.</a:t>
            </a:r>
            <a:endParaRPr lang="en-US" sz="1300" dirty="0"/>
          </a:p>
          <a:p>
            <a:pPr marL="203200" indent="-203200" algn="just">
              <a:lnSpc>
                <a:spcPct val="108000"/>
              </a:lnSpc>
              <a:spcAft>
                <a:spcPts val="750"/>
              </a:spcAft>
              <a:buSzPct val="100000"/>
              <a:buChar char="•"/>
            </a:pPr>
            <a:r>
              <a:rPr lang="en-US" sz="13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transforms supply chain data into meaningful insights, enabling faster and better business decisions.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77356" y="1463040"/>
            <a:ext cx="5454396" cy="3749040"/>
          </a:xfrm>
          <a:prstGeom prst="roundRect">
            <a:avLst>
              <a:gd name="adj" fmla="val 2195"/>
            </a:avLst>
          </a:prstGeom>
          <a:solidFill>
            <a:srgbClr val="E7F0E7"/>
          </a:solidFill>
          <a:ln w="12700">
            <a:solidFill>
              <a:srgbClr val="0F2A52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3388" y="1709928"/>
            <a:ext cx="82296" cy="173736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13" name="Text 10"/>
          <p:cNvSpPr/>
          <p:nvPr/>
        </p:nvSpPr>
        <p:spPr>
          <a:xfrm>
            <a:off x="6716268" y="1682496"/>
            <a:ext cx="4759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533388" y="2029968"/>
            <a:ext cx="494233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just">
              <a:lnSpc>
                <a:spcPct val="108000"/>
              </a:lnSpc>
              <a:spcAft>
                <a:spcPts val="750"/>
              </a:spcAft>
              <a:buSzPct val="100000"/>
              <a:buChar char="•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real-time supply chain data for live monitoring.</a:t>
            </a:r>
            <a:endParaRPr lang="en-US" sz="1400" dirty="0"/>
          </a:p>
          <a:p>
            <a:pPr marL="203200" indent="-203200" algn="just">
              <a:lnSpc>
                <a:spcPct val="108000"/>
              </a:lnSpc>
              <a:spcAft>
                <a:spcPts val="750"/>
              </a:spcAft>
              <a:buSzPct val="100000"/>
              <a:buChar char="•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Add forecasting models to predict inventory demand and future sales.</a:t>
            </a:r>
            <a:endParaRPr lang="en-US" sz="1400" dirty="0"/>
          </a:p>
          <a:p>
            <a:pPr marL="203200" indent="-203200" algn="just">
              <a:lnSpc>
                <a:spcPct val="108000"/>
              </a:lnSpc>
              <a:spcAft>
                <a:spcPts val="750"/>
              </a:spcAft>
              <a:buSzPct val="100000"/>
              <a:buChar char="•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Include AI/ML-based analytics for demand forecasting and risk prediction.</a:t>
            </a:r>
            <a:endParaRPr lang="en-US" sz="1400" dirty="0"/>
          </a:p>
          <a:p>
            <a:pPr marL="203200" indent="-203200" algn="just">
              <a:lnSpc>
                <a:spcPct val="108000"/>
              </a:lnSpc>
              <a:spcAft>
                <a:spcPts val="750"/>
              </a:spcAft>
              <a:buSzPct val="100000"/>
              <a:buChar char="•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Develop automated alerts for low stock, delayed deliveries, and warehouse capacity.</a:t>
            </a:r>
            <a:endParaRPr lang="en-US" sz="1400" dirty="0"/>
          </a:p>
          <a:p>
            <a:pPr marL="203200" indent="-203200" algn="just">
              <a:lnSpc>
                <a:spcPct val="108000"/>
              </a:lnSpc>
              <a:spcAft>
                <a:spcPts val="750"/>
              </a:spcAft>
              <a:buSzPct val="100000"/>
              <a:buChar char="•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Publish dashboards on the Power BI Service for organization-wide access and collaboration.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5532120"/>
            <a:ext cx="11274552" cy="713232"/>
          </a:xfrm>
          <a:prstGeom prst="roundRect">
            <a:avLst>
              <a:gd name="adj" fmla="val 10256"/>
            </a:avLst>
          </a:prstGeom>
          <a:solidFill>
            <a:srgbClr val="E7F0E7"/>
          </a:solidFill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76200" dist="25400" dir="5400000" algn="bl" rotWithShape="0">
              <a:srgbClr val="0B1E3A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383487" y="5614416"/>
            <a:ext cx="365760" cy="365760"/>
          </a:xfrm>
          <a:prstGeom prst="ellipse">
            <a:avLst/>
          </a:prstGeom>
          <a:solidFill>
            <a:srgbClr val="2856A3"/>
          </a:solidFill>
          <a:ln/>
        </p:spPr>
      </p:sp>
      <p:pic>
        <p:nvPicPr>
          <p:cNvPr id="17" name="Image 1" descr="/home/claude/work/icons/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4071" y="5715000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6007608"/>
            <a:ext cx="22549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565806" y="5586984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3638398" y="5614416"/>
            <a:ext cx="365760" cy="365760"/>
          </a:xfrm>
          <a:prstGeom prst="ellipse">
            <a:avLst/>
          </a:prstGeom>
          <a:solidFill>
            <a:srgbClr val="2856A3"/>
          </a:solidFill>
          <a:ln/>
        </p:spPr>
      </p:sp>
      <p:pic>
        <p:nvPicPr>
          <p:cNvPr id="21" name="Image 2" descr="/home/claude/work/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8982" y="5715000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712110" y="6007608"/>
            <a:ext cx="22549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820717" y="5586984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5893308" y="5614416"/>
            <a:ext cx="365760" cy="365760"/>
          </a:xfrm>
          <a:prstGeom prst="ellipse">
            <a:avLst/>
          </a:prstGeom>
          <a:solidFill>
            <a:srgbClr val="2856A3"/>
          </a:solidFill>
          <a:ln/>
        </p:spPr>
      </p:sp>
      <p:pic>
        <p:nvPicPr>
          <p:cNvPr id="25" name="Image 3" descr="/home/claude/work/icons/lay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3892" y="5715000"/>
            <a:ext cx="201168" cy="20116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967021" y="6007608"/>
            <a:ext cx="22549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075627" y="5586984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8148218" y="5614416"/>
            <a:ext cx="365760" cy="365760"/>
          </a:xfrm>
          <a:prstGeom prst="ellipse">
            <a:avLst/>
          </a:prstGeom>
          <a:solidFill>
            <a:srgbClr val="2856A3"/>
          </a:solidFill>
          <a:ln/>
        </p:spPr>
      </p:sp>
      <p:pic>
        <p:nvPicPr>
          <p:cNvPr id="29" name="Image 4" descr="/home/claude/work/icons/lightbul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8802" y="5715000"/>
            <a:ext cx="201168" cy="20116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221931" y="6007608"/>
            <a:ext cx="22549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9330538" y="5586984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10403129" y="5614416"/>
            <a:ext cx="365760" cy="365760"/>
          </a:xfrm>
          <a:prstGeom prst="ellipse">
            <a:avLst/>
          </a:prstGeom>
          <a:solidFill>
            <a:srgbClr val="C99A3B"/>
          </a:solidFill>
          <a:ln/>
        </p:spPr>
      </p:sp>
      <p:pic>
        <p:nvPicPr>
          <p:cNvPr id="33" name="Image 5" descr="/home/claude/work/icons/checkcirc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3713" y="5715000"/>
            <a:ext cx="201168" cy="20116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476842" y="6007608"/>
            <a:ext cx="22549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Better Decisions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D7E1F0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4114800" y="64922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850" dirty="0"/>
          </a:p>
        </p:txBody>
      </p:sp>
      <p:sp>
        <p:nvSpPr>
          <p:cNvPr id="38" name="Text 30"/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 smtClean="0">
                <a:solidFill>
                  <a:srgbClr val="285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F2A52"/>
          </a:solidFill>
          <a:ln/>
          <a:effectLst>
            <a:outerShdw blurRad="63500" dist="25400" dir="5400000" algn="bl" rotWithShape="0">
              <a:srgbClr val="0F2A52">
                <a:alpha val="28000"/>
              </a:srgbClr>
            </a:outerShdw>
          </a:effectLst>
        </p:spPr>
      </p:sp>
      <p:pic>
        <p:nvPicPr>
          <p:cNvPr id="3" name="Image 0" descr="/home/claude/work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2120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55778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Members &amp; Roles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566928" cy="32004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7" name="Shape 4"/>
          <p:cNvSpPr/>
          <p:nvPr/>
        </p:nvSpPr>
        <p:spPr>
          <a:xfrm>
            <a:off x="443484" y="2194560"/>
            <a:ext cx="2084832" cy="3383280"/>
          </a:xfrm>
          <a:prstGeom prst="roundRect">
            <a:avLst>
              <a:gd name="adj" fmla="val 3947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43484" y="2194560"/>
            <a:ext cx="2084832" cy="45720"/>
          </a:xfrm>
          <a:prstGeom prst="rect">
            <a:avLst/>
          </a:prstGeom>
          <a:solidFill>
            <a:srgbClr val="C99A3B"/>
          </a:solidFill>
          <a:ln/>
        </p:spPr>
      </p:sp>
      <p:pic>
        <p:nvPicPr>
          <p:cNvPr id="10" name="Image 1" descr="/home/claude/work/icons/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292" y="2770632"/>
            <a:ext cx="585216" cy="5852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" y="36576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Anchal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1248156" y="4160520"/>
            <a:ext cx="475488" cy="475488"/>
          </a:xfrm>
          <a:prstGeom prst="ellipse">
            <a:avLst/>
          </a:prstGeom>
          <a:solidFill>
            <a:srgbClr val="FFFFFF">
              <a:alpha val="92000"/>
            </a:srgbClr>
          </a:solidFill>
          <a:ln/>
        </p:spPr>
      </p:sp>
      <p:pic>
        <p:nvPicPr>
          <p:cNvPr id="13" name="Image 2" descr="/home/claude/work/icons/box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7884" y="4270248"/>
            <a:ext cx="256032" cy="256032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14" name="Text 9"/>
          <p:cNvSpPr/>
          <p:nvPr/>
        </p:nvSpPr>
        <p:spPr>
          <a:xfrm>
            <a:off x="580644" y="4736592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Analytics Dashboard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2747772" y="2194560"/>
            <a:ext cx="2084832" cy="3383280"/>
          </a:xfrm>
          <a:prstGeom prst="roundRect">
            <a:avLst>
              <a:gd name="adj" fmla="val 3947"/>
            </a:avLst>
          </a:prstGeom>
          <a:solidFill>
            <a:srgbClr val="2856A3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2747772" y="2194560"/>
            <a:ext cx="2084832" cy="45720"/>
          </a:xfrm>
          <a:prstGeom prst="rect">
            <a:avLst/>
          </a:prstGeom>
          <a:solidFill>
            <a:srgbClr val="C99A3B"/>
          </a:solidFill>
          <a:ln/>
        </p:spPr>
      </p:sp>
      <p:pic>
        <p:nvPicPr>
          <p:cNvPr id="18" name="Image 3" descr="/home/claude/work/icons/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580" y="2770632"/>
            <a:ext cx="585216" cy="58521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839212" y="36576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Mehak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Grover</a:t>
            </a:r>
            <a:endParaRPr lang="en-US" sz="2000" dirty="0"/>
          </a:p>
        </p:txBody>
      </p:sp>
      <p:sp>
        <p:nvSpPr>
          <p:cNvPr id="20" name="Shape 14"/>
          <p:cNvSpPr/>
          <p:nvPr/>
        </p:nvSpPr>
        <p:spPr>
          <a:xfrm>
            <a:off x="3552444" y="4160520"/>
            <a:ext cx="475488" cy="475488"/>
          </a:xfrm>
          <a:prstGeom prst="ellipse">
            <a:avLst/>
          </a:prstGeom>
          <a:solidFill>
            <a:srgbClr val="FFFFFF">
              <a:alpha val="92000"/>
            </a:srgbClr>
          </a:solidFill>
          <a:ln/>
        </p:spPr>
      </p:sp>
      <p:pic>
        <p:nvPicPr>
          <p:cNvPr id="21" name="Image 4" descr="/home/claude/work/icons/handshak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2172" y="4270248"/>
            <a:ext cx="256032" cy="256032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22" name="Text 15"/>
          <p:cNvSpPr/>
          <p:nvPr/>
        </p:nvSpPr>
        <p:spPr>
          <a:xfrm>
            <a:off x="2884932" y="4736592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dirty="0" smtClean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Efficiency </a:t>
            </a:r>
            <a:r>
              <a:rPr lang="en-US" sz="16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5052060" y="2194560"/>
            <a:ext cx="2084832" cy="3383280"/>
          </a:xfrm>
          <a:prstGeom prst="roundRect">
            <a:avLst>
              <a:gd name="adj" fmla="val 3947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5052060" y="2194560"/>
            <a:ext cx="2084832" cy="45720"/>
          </a:xfrm>
          <a:prstGeom prst="rect">
            <a:avLst/>
          </a:prstGeom>
          <a:solidFill>
            <a:srgbClr val="C99A3B"/>
          </a:solidFill>
          <a:ln/>
        </p:spPr>
      </p:sp>
      <p:pic>
        <p:nvPicPr>
          <p:cNvPr id="26" name="Image 5" descr="/home/claude/work/icons/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1868" y="2770632"/>
            <a:ext cx="585216" cy="58521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143500" y="3618411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Abbireddy</a:t>
            </a:r>
            <a:r>
              <a:rPr lang="en-US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Mohana</a:t>
            </a:r>
            <a:r>
              <a:rPr lang="en-US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Amitha</a:t>
            </a:r>
            <a:endParaRPr lang="en-US" dirty="0"/>
          </a:p>
        </p:txBody>
      </p:sp>
      <p:sp>
        <p:nvSpPr>
          <p:cNvPr id="28" name="Shape 20"/>
          <p:cNvSpPr/>
          <p:nvPr/>
        </p:nvSpPr>
        <p:spPr>
          <a:xfrm>
            <a:off x="5856732" y="4160520"/>
            <a:ext cx="475488" cy="475488"/>
          </a:xfrm>
          <a:prstGeom prst="ellipse">
            <a:avLst/>
          </a:prstGeom>
          <a:solidFill>
            <a:srgbClr val="FFFFFF">
              <a:alpha val="92000"/>
            </a:srgbClr>
          </a:solidFill>
          <a:ln/>
        </p:spPr>
      </p:sp>
      <p:pic>
        <p:nvPicPr>
          <p:cNvPr id="29" name="Image 6" descr="/home/claude/work/icons/tru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6460" y="4270248"/>
            <a:ext cx="256032" cy="256032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30" name="Text 21"/>
          <p:cNvSpPr/>
          <p:nvPr/>
        </p:nvSpPr>
        <p:spPr>
          <a:xfrm>
            <a:off x="5189220" y="4736592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Performance Dashboard</a:t>
            </a:r>
            <a:endParaRPr lang="en-US" sz="1500" dirty="0"/>
          </a:p>
        </p:txBody>
      </p:sp>
      <p:sp>
        <p:nvSpPr>
          <p:cNvPr id="31" name="Shape 22"/>
          <p:cNvSpPr/>
          <p:nvPr/>
        </p:nvSpPr>
        <p:spPr>
          <a:xfrm>
            <a:off x="7356348" y="2194560"/>
            <a:ext cx="2084832" cy="3383280"/>
          </a:xfrm>
          <a:prstGeom prst="roundRect">
            <a:avLst>
              <a:gd name="adj" fmla="val 3947"/>
            </a:avLst>
          </a:prstGeom>
          <a:solidFill>
            <a:srgbClr val="2856A3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7356348" y="2194560"/>
            <a:ext cx="2084832" cy="45720"/>
          </a:xfrm>
          <a:prstGeom prst="rect">
            <a:avLst/>
          </a:prstGeom>
          <a:solidFill>
            <a:srgbClr val="C99A3B"/>
          </a:solidFill>
          <a:ln/>
        </p:spPr>
      </p:sp>
      <p:pic>
        <p:nvPicPr>
          <p:cNvPr id="34" name="Image 7" descr="/home/claude/work/icons/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6156" y="2770632"/>
            <a:ext cx="585216" cy="585216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447788" y="36576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5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Sakshi</a:t>
            </a:r>
            <a:r>
              <a:rPr lang="en-US" sz="195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95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Bhabad</a:t>
            </a:r>
            <a:endParaRPr lang="en-US" sz="1950" dirty="0"/>
          </a:p>
        </p:txBody>
      </p:sp>
      <p:sp>
        <p:nvSpPr>
          <p:cNvPr id="36" name="Shape 26"/>
          <p:cNvSpPr/>
          <p:nvPr/>
        </p:nvSpPr>
        <p:spPr>
          <a:xfrm>
            <a:off x="8161020" y="4160520"/>
            <a:ext cx="475488" cy="475488"/>
          </a:xfrm>
          <a:prstGeom prst="ellipse">
            <a:avLst/>
          </a:prstGeom>
          <a:solidFill>
            <a:srgbClr val="FFFFFF">
              <a:alpha val="92000"/>
            </a:srgbClr>
          </a:solidFill>
          <a:ln/>
        </p:spPr>
      </p:sp>
      <p:pic>
        <p:nvPicPr>
          <p:cNvPr id="37" name="Image 8" descr="/home/claude/work/icons/shipp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0748" y="4270248"/>
            <a:ext cx="256032" cy="256032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38" name="Text 27"/>
          <p:cNvSpPr/>
          <p:nvPr/>
        </p:nvSpPr>
        <p:spPr>
          <a:xfrm>
            <a:off x="7493508" y="4736592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Analytics Dashboard</a:t>
            </a:r>
            <a:endParaRPr lang="en-US" sz="1500" dirty="0"/>
          </a:p>
        </p:txBody>
      </p:sp>
      <p:sp>
        <p:nvSpPr>
          <p:cNvPr id="39" name="Shape 28"/>
          <p:cNvSpPr/>
          <p:nvPr/>
        </p:nvSpPr>
        <p:spPr>
          <a:xfrm>
            <a:off x="9660636" y="2194560"/>
            <a:ext cx="2084832" cy="3383280"/>
          </a:xfrm>
          <a:prstGeom prst="roundRect">
            <a:avLst>
              <a:gd name="adj" fmla="val 3947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40" name="Shape 29"/>
          <p:cNvSpPr/>
          <p:nvPr/>
        </p:nvSpPr>
        <p:spPr>
          <a:xfrm>
            <a:off x="9660636" y="2194560"/>
            <a:ext cx="2084832" cy="45720"/>
          </a:xfrm>
          <a:prstGeom prst="rect">
            <a:avLst/>
          </a:prstGeom>
          <a:solidFill>
            <a:srgbClr val="C99A3B"/>
          </a:solidFill>
          <a:ln/>
        </p:spPr>
      </p:sp>
      <p:pic>
        <p:nvPicPr>
          <p:cNvPr id="42" name="Image 9" descr="/home/claude/work/icons/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0444" y="2770632"/>
            <a:ext cx="585216" cy="585216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9752076" y="36576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P. </a:t>
            </a:r>
            <a:r>
              <a:rPr lang="en-US" sz="19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Akshaya</a:t>
            </a:r>
            <a:r>
              <a:rPr lang="en-US" sz="19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Reddy</a:t>
            </a:r>
            <a:endParaRPr lang="en-US" sz="1900" dirty="0"/>
          </a:p>
        </p:txBody>
      </p:sp>
      <p:sp>
        <p:nvSpPr>
          <p:cNvPr id="44" name="Shape 32"/>
          <p:cNvSpPr/>
          <p:nvPr/>
        </p:nvSpPr>
        <p:spPr>
          <a:xfrm>
            <a:off x="10465308" y="4160520"/>
            <a:ext cx="475488" cy="475488"/>
          </a:xfrm>
          <a:prstGeom prst="ellipse">
            <a:avLst/>
          </a:prstGeom>
          <a:solidFill>
            <a:srgbClr val="FFFFFF">
              <a:alpha val="92000"/>
            </a:srgbClr>
          </a:solidFill>
          <a:ln/>
        </p:spPr>
      </p:sp>
      <p:pic>
        <p:nvPicPr>
          <p:cNvPr id="45" name="Image 10" descr="/home/claude/work/icons/warehou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5036" y="4270248"/>
            <a:ext cx="256032" cy="256032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46" name="Text 33"/>
          <p:cNvSpPr/>
          <p:nvPr/>
        </p:nvSpPr>
        <p:spPr>
          <a:xfrm>
            <a:off x="9797796" y="4736592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dirty="0" smtClean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Performance </a:t>
            </a:r>
            <a:r>
              <a:rPr lang="en-US" sz="16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47" name="Shape 34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D7E1F0"/>
            </a:solidFill>
            <a:prstDash val="solid"/>
          </a:ln>
        </p:spPr>
      </p:sp>
      <p:sp>
        <p:nvSpPr>
          <p:cNvPr id="48" name="Text 35"/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</a:t>
            </a:r>
            <a:endParaRPr lang="en-US" sz="1200" dirty="0"/>
          </a:p>
        </p:txBody>
      </p:sp>
      <p:sp>
        <p:nvSpPr>
          <p:cNvPr id="49" name="Text 36"/>
          <p:cNvSpPr/>
          <p:nvPr/>
        </p:nvSpPr>
        <p:spPr>
          <a:xfrm>
            <a:off x="4114800" y="64922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&amp; Roles</a:t>
            </a:r>
            <a:endParaRPr lang="en-US" sz="850" dirty="0"/>
          </a:p>
        </p:txBody>
      </p:sp>
      <p:sp>
        <p:nvSpPr>
          <p:cNvPr id="50" name="Text 37"/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 smtClean="0">
                <a:solidFill>
                  <a:srgbClr val="285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 descr="WhatsApp Image 2026-08-17 at 9.49.31 A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920"/>
            <a:ext cx="12191999" cy="68040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2604</TotalTime>
  <Words>1744</Words>
  <Application>Microsoft Office PowerPoint</Application>
  <PresentationFormat>Custom</PresentationFormat>
  <Paragraphs>291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Office Theme</vt:lpstr>
      <vt:lpstr>1_Office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Mehak Grover</cp:lastModifiedBy>
  <cp:revision>45</cp:revision>
  <dcterms:created xsi:type="dcterms:W3CDTF">2026-08-08T14:50:40Z</dcterms:created>
  <dcterms:modified xsi:type="dcterms:W3CDTF">2026-08-19T14:32:49Z</dcterms:modified>
</cp:coreProperties>
</file>