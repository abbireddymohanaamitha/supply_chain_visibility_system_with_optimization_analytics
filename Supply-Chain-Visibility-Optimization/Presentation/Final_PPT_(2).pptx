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9"/>
  </p:notesMasterIdLst>
  <p:sldIdLst>
    <p:sldId id="256" r:id="rId3"/>
    <p:sldId id="258" r:id="rId4"/>
    <p:sldId id="259" r:id="rId5"/>
    <p:sldId id="283" r:id="rId6"/>
    <p:sldId id="284" r:id="rId7"/>
    <p:sldId id="277" r:id="rId8"/>
    <p:sldId id="261" r:id="rId9"/>
    <p:sldId id="263" r:id="rId10"/>
    <p:sldId id="264" r:id="rId11"/>
    <p:sldId id="265" r:id="rId12"/>
    <p:sldId id="267" r:id="rId13"/>
    <p:sldId id="272" r:id="rId14"/>
    <p:sldId id="285" r:id="rId15"/>
    <p:sldId id="280" r:id="rId16"/>
    <p:sldId id="271" r:id="rId17"/>
    <p:sldId id="279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E7F0E7"/>
    <a:srgbClr val="F4F8FC"/>
    <a:srgbClr val="203864"/>
    <a:srgbClr val="4EA8DA"/>
    <a:srgbClr val="4EA880"/>
    <a:srgbClr val="2362BF"/>
    <a:srgbClr val="56ACDC"/>
    <a:srgbClr val="96CBE9"/>
    <a:srgbClr val="2466C6"/>
    <a:srgbClr val="8AACE2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11"/>
    <p:restoredTop sz="96881" autoAdjust="0"/>
  </p:normalViewPr>
  <p:slideViewPr>
    <p:cSldViewPr snapToGrid="0" snapToObjects="1">
      <p:cViewPr>
        <p:scale>
          <a:sx n="66" d="100"/>
          <a:sy n="66" d="100"/>
        </p:scale>
        <p:origin x="-876" y="-2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6896716-7FC6-56FC-7DB4-32E620B47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547563B2-AD61-0782-52B3-B4AED23A63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6ABD7554-D5F1-85B1-C31E-3D1EB31A0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AA62F51-6F1D-3377-8BAA-3AD8CCB5DC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722767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6896716-7FC6-56FC-7DB4-32E620B47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547563B2-AD61-0782-52B3-B4AED23A63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6ABD7554-D5F1-85B1-C31E-3D1EB31A06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AA62F51-6F1D-3377-8BAA-3AD8CCB5DC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722767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.pn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7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4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5.png"/><Relationship Id="rId10" Type="http://schemas.openxmlformats.org/officeDocument/2006/relationships/image" Target="../media/image1.png"/><Relationship Id="rId4" Type="http://schemas.openxmlformats.org/officeDocument/2006/relationships/image" Target="../media/image25.png"/><Relationship Id="rId9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52840" y="-1998980"/>
            <a:ext cx="5943600" cy="5943600"/>
          </a:xfrm>
          <a:prstGeom prst="ellipse">
            <a:avLst/>
          </a:prstGeom>
          <a:solidFill>
            <a:srgbClr val="2856A3">
              <a:alpha val="21961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06240"/>
            <a:ext cx="5120640" cy="5120640"/>
          </a:xfrm>
          <a:prstGeom prst="ellipse">
            <a:avLst/>
          </a:prstGeom>
          <a:solidFill>
            <a:srgbClr val="C99A3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966960" y="4663440"/>
            <a:ext cx="2743200" cy="2743200"/>
          </a:xfrm>
          <a:prstGeom prst="ellipse">
            <a:avLst/>
          </a:prstGeom>
          <a:solidFill>
            <a:srgbClr val="0F2A52">
              <a:alpha val="7843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0" y="233172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ANALYTICS  •  POWER BI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2697480"/>
            <a:ext cx="107259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F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Visibility System With Optimization Analytics</a:t>
            </a:r>
            <a:endParaRPr lang="en-US" sz="4200" dirty="0">
              <a:solidFill>
                <a:srgbClr val="0F2A52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731520" y="3902336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chemeClr val="accent4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Visualization Project</a:t>
            </a:r>
            <a:endParaRPr lang="en-US" sz="20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5545836" y="4434840"/>
            <a:ext cx="64008" cy="64008"/>
          </a:xfrm>
          <a:prstGeom prst="ellipse">
            <a:avLst/>
          </a:prstGeom>
          <a:solidFill>
            <a:srgbClr val="C99A3B"/>
          </a:solidFill>
          <a:ln/>
        </p:spPr>
      </p:sp>
      <p:sp>
        <p:nvSpPr>
          <p:cNvPr id="11" name="Shape 8"/>
          <p:cNvSpPr/>
          <p:nvPr/>
        </p:nvSpPr>
        <p:spPr>
          <a:xfrm>
            <a:off x="6062472" y="4434840"/>
            <a:ext cx="64008" cy="64008"/>
          </a:xfrm>
          <a:prstGeom prst="ellipse">
            <a:avLst/>
          </a:prstGeom>
          <a:solidFill>
            <a:srgbClr val="2856A3"/>
          </a:solidFill>
          <a:ln/>
        </p:spPr>
      </p:sp>
      <p:sp>
        <p:nvSpPr>
          <p:cNvPr id="12" name="Shape 9"/>
          <p:cNvSpPr/>
          <p:nvPr/>
        </p:nvSpPr>
        <p:spPr>
          <a:xfrm>
            <a:off x="6579108" y="4434840"/>
            <a:ext cx="64008" cy="64008"/>
          </a:xfrm>
          <a:prstGeom prst="ellipse">
            <a:avLst/>
          </a:prstGeom>
          <a:solidFill>
            <a:srgbClr val="C99A3B"/>
          </a:solidFill>
          <a:ln/>
        </p:spPr>
      </p:sp>
      <p:sp>
        <p:nvSpPr>
          <p:cNvPr id="13" name="Text 10"/>
          <p:cNvSpPr/>
          <p:nvPr/>
        </p:nvSpPr>
        <p:spPr>
          <a:xfrm>
            <a:off x="0" y="6470723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>
              <a:solidFill>
                <a:srgbClr val="00206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10526B6-CDDA-D1C7-F24E-5AC432164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59" y="103558"/>
            <a:ext cx="1984573" cy="9468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F2A52"/>
          </a:solidFill>
          <a:ln/>
          <a:effectLst>
            <a:outerShdw blurRad="63500" dist="25400" dir="5400000" algn="bl" rotWithShape="0">
              <a:srgbClr val="0F2A52">
                <a:alpha val="28000"/>
              </a:srgbClr>
            </a:outerShdw>
          </a:effectLst>
        </p:spPr>
      </p:sp>
      <p:pic>
        <p:nvPicPr>
          <p:cNvPr id="3" name="Image 0" descr="/home/claude/work/icons/excla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950" y="495082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0432" y="55778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566928" cy="32004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463040"/>
            <a:ext cx="5454396" cy="4892040"/>
          </a:xfrm>
          <a:prstGeom prst="roundRect">
            <a:avLst>
              <a:gd name="adj" fmla="val 1682"/>
            </a:avLst>
          </a:prstGeom>
          <a:solidFill>
            <a:srgbClr val="FFFFFF"/>
          </a:solidFill>
          <a:ln w="12700">
            <a:solidFill>
              <a:srgbClr val="D7E1F0"/>
            </a:solidFill>
            <a:prstDash val="solid"/>
          </a:ln>
          <a:effectLst>
            <a:outerShdw blurRad="88900" dist="254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85800" y="1719072"/>
            <a:ext cx="420624" cy="420624"/>
          </a:xfrm>
          <a:prstGeom prst="ellipse">
            <a:avLst/>
          </a:prstGeom>
          <a:solidFill>
            <a:srgbClr val="A8442E"/>
          </a:solidFill>
          <a:ln/>
        </p:spPr>
      </p:sp>
      <p:pic>
        <p:nvPicPr>
          <p:cNvPr id="9" name="Image 1" descr="/home/claude/work/icons/excla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819656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1737360"/>
            <a:ext cx="43571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 Challenges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685800" y="2240280"/>
            <a:ext cx="49971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supply chains generate large volumes of operational data, making it difficult to monitor overall performance using traditional reports. The major challenges include: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85800" y="3017520"/>
            <a:ext cx="4951476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in tracking inventory levels across warehouses.</a:t>
            </a:r>
            <a:endParaRPr lang="en-US" sz="1500" dirty="0"/>
          </a:p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visibility into delivery performance and late deliveries.</a:t>
            </a:r>
            <a:endParaRPr lang="en-US" sz="1500" dirty="0"/>
          </a:p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in evaluating supplier quality, reliability, and lead time.</a:t>
            </a:r>
            <a:endParaRPr lang="en-US" sz="1500" dirty="0"/>
          </a:p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insights into transportation costs and shipping efficiency.</a:t>
            </a:r>
            <a:endParaRPr lang="en-US" sz="1500" dirty="0"/>
          </a:p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in monitoring warehouse utilization and capacity.</a:t>
            </a:r>
            <a:endParaRPr lang="en-US" sz="1500" dirty="0"/>
          </a:p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data, making decision-making slow and less effective.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277356" y="1463040"/>
            <a:ext cx="5454396" cy="4892040"/>
          </a:xfrm>
          <a:prstGeom prst="roundRect">
            <a:avLst>
              <a:gd name="adj" fmla="val 1682"/>
            </a:avLst>
          </a:prstGeom>
          <a:solidFill>
            <a:srgbClr val="E7F0E7"/>
          </a:solidFill>
          <a:ln w="12700">
            <a:solidFill>
              <a:srgbClr val="0F2A52"/>
            </a:solidFill>
            <a:prstDash val="solid"/>
          </a:ln>
          <a:effectLst>
            <a:outerShdw blurRad="88900" dist="254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505956" y="1719072"/>
            <a:ext cx="420624" cy="420624"/>
          </a:xfrm>
          <a:prstGeom prst="ellipse">
            <a:avLst/>
          </a:prstGeom>
          <a:solidFill>
            <a:srgbClr val="C99A3B"/>
          </a:solidFill>
          <a:ln/>
        </p:spPr>
      </p:sp>
      <p:pic>
        <p:nvPicPr>
          <p:cNvPr id="15" name="Image 2" descr="/home/claude/work/icons/light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540" y="1819656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054596" y="1737360"/>
            <a:ext cx="43571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6505956" y="2240280"/>
            <a:ext cx="49971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interactive Power BI dashboard that integrates supply chain data into a single platform, enabling users to: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505956" y="2926080"/>
            <a:ext cx="4997196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Monitor key performance indicators (KPIs).</a:t>
            </a:r>
            <a:endParaRPr lang="en-US" sz="1500" dirty="0"/>
          </a:p>
          <a:p>
            <a:pPr marL="203200" indent="-2032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Analyze inventory, delivery, supplier, transportation, and warehouse performance.</a:t>
            </a:r>
            <a:endParaRPr lang="en-US" sz="1500" dirty="0"/>
          </a:p>
          <a:p>
            <a:pPr marL="203200" indent="-2032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Identify operational bottlenecks.</a:t>
            </a:r>
            <a:endParaRPr lang="en-US" sz="1500" dirty="0"/>
          </a:p>
          <a:p>
            <a:pPr marL="203200" indent="-2032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Support faster and data-driven business decisions.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D7E1F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57200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114800" y="6492240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1274552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285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xmlns="" id="{880E8F07-2DA9-6E3D-AB1B-D15455B42F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7200" y="37299"/>
            <a:ext cx="1478978" cy="7503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F2A52"/>
          </a:solidFill>
          <a:ln/>
          <a:effectLst>
            <a:outerShdw blurRad="63500" dist="25400" dir="5400000" algn="bl" rotWithShape="0">
              <a:srgbClr val="0F2A52">
                <a:alpha val="28000"/>
              </a:srgbClr>
            </a:outerShdw>
          </a:effectLst>
        </p:spPr>
      </p:sp>
      <p:pic>
        <p:nvPicPr>
          <p:cNvPr id="3" name="Image 0" descr="/home/claude/work/icons/bulls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2120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0432" y="55778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566928" cy="32004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3716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objectives of this project are: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5454396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E1F0"/>
            </a:solidFill>
            <a:prstDash val="solid"/>
          </a:ln>
          <a:effectLst>
            <a:outerShdw blurRad="88900" dist="254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2002536"/>
            <a:ext cx="475488" cy="475488"/>
          </a:xfrm>
          <a:prstGeom prst="ellipse">
            <a:avLst/>
          </a:prstGeom>
          <a:solidFill>
            <a:srgbClr val="0F2A52"/>
          </a:solidFill>
          <a:ln/>
        </p:spPr>
      </p:sp>
      <p:pic>
        <p:nvPicPr>
          <p:cNvPr id="10" name="Image 1" descr="/home/claude/work/icons/bulls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12140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61872" y="1856232"/>
            <a:ext cx="44668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interactive Power BI dashboard for supply chain analysis.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277356" y="1783080"/>
            <a:ext cx="5454396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E1F0"/>
            </a:solidFill>
            <a:prstDash val="solid"/>
          </a:ln>
          <a:effectLst>
            <a:outerShdw blurRad="88900" dist="254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60236" y="2002536"/>
            <a:ext cx="475488" cy="475488"/>
          </a:xfrm>
          <a:prstGeom prst="ellipse">
            <a:avLst/>
          </a:prstGeom>
          <a:solidFill>
            <a:srgbClr val="2856A3"/>
          </a:solidFill>
          <a:ln/>
        </p:spPr>
      </p:sp>
      <p:pic>
        <p:nvPicPr>
          <p:cNvPr id="14" name="Image 2" descr="/home/claude/work/icons/box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9108" y="212140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82028" y="1856232"/>
            <a:ext cx="44668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Inventory, Delivery, Supplier, Transportation, and Warehouse performance.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57200" y="2880360"/>
            <a:ext cx="5454396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E1F0"/>
            </a:solidFill>
            <a:prstDash val="solid"/>
          </a:ln>
          <a:effectLst>
            <a:outerShdw blurRad="88900" dist="254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40080" y="3099816"/>
            <a:ext cx="475488" cy="475488"/>
          </a:xfrm>
          <a:prstGeom prst="ellipse">
            <a:avLst/>
          </a:prstGeom>
          <a:solidFill>
            <a:srgbClr val="0F2A52"/>
          </a:solidFill>
          <a:ln/>
        </p:spPr>
      </p:sp>
      <p:pic>
        <p:nvPicPr>
          <p:cNvPr id="18" name="Image 3" descr="/home/claude/work/icons/line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3218688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61872" y="2953512"/>
            <a:ext cx="44668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important Key Performance Indicators (KPIs) using DAX measures</a:t>
            </a:r>
            <a:r>
              <a:rPr lang="en-US" sz="12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277356" y="2880360"/>
            <a:ext cx="5454396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E1F0"/>
            </a:solidFill>
            <a:prstDash val="solid"/>
          </a:ln>
          <a:effectLst>
            <a:outerShdw blurRad="88900" dist="254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460236" y="3099816"/>
            <a:ext cx="475488" cy="475488"/>
          </a:xfrm>
          <a:prstGeom prst="ellipse">
            <a:avLst/>
          </a:prstGeom>
          <a:solidFill>
            <a:srgbClr val="2856A3"/>
          </a:solidFill>
          <a:ln/>
        </p:spPr>
      </p:sp>
      <p:pic>
        <p:nvPicPr>
          <p:cNvPr id="22" name="Image 4" descr="/home/claude/work/icons/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9108" y="3218688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082028" y="2953512"/>
            <a:ext cx="44668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inventory movement, stock levels, delivery efficiency, and supplier performance.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457200" y="3977640"/>
            <a:ext cx="5454396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E1F0"/>
            </a:solidFill>
            <a:prstDash val="solid"/>
          </a:ln>
          <a:effectLst>
            <a:outerShdw blurRad="88900" dist="254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40080" y="4197096"/>
            <a:ext cx="475488" cy="475488"/>
          </a:xfrm>
          <a:prstGeom prst="ellipse">
            <a:avLst/>
          </a:prstGeom>
          <a:solidFill>
            <a:srgbClr val="0F2A52"/>
          </a:solidFill>
          <a:ln/>
        </p:spPr>
      </p:sp>
      <p:pic>
        <p:nvPicPr>
          <p:cNvPr id="26" name="Image 5" descr="/home/claude/work/icons/exclai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" y="4315968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261872" y="4050792"/>
            <a:ext cx="44668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operational issues such as late deliveries, slow-moving inventory, and warehouse utilization</a:t>
            </a:r>
            <a:r>
              <a:rPr lang="en-US" sz="12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6277356" y="3977640"/>
            <a:ext cx="5454396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E1F0"/>
            </a:solidFill>
            <a:prstDash val="solid"/>
          </a:ln>
          <a:effectLst>
            <a:outerShdw blurRad="88900" dist="254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6460236" y="4197096"/>
            <a:ext cx="475488" cy="475488"/>
          </a:xfrm>
          <a:prstGeom prst="ellipse">
            <a:avLst/>
          </a:prstGeom>
          <a:solidFill>
            <a:srgbClr val="2856A3"/>
          </a:solidFill>
          <a:ln/>
        </p:spPr>
      </p:sp>
      <p:pic>
        <p:nvPicPr>
          <p:cNvPr id="30" name="Image 6" descr="/home/claude/work/icons/filt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9108" y="4315968"/>
            <a:ext cx="237744" cy="23774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082028" y="4050792"/>
            <a:ext cx="44668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interactive data analysis using filters and slicers.</a:t>
            </a:r>
            <a:endParaRPr lang="en-US" sz="1400" dirty="0"/>
          </a:p>
        </p:txBody>
      </p:sp>
      <p:sp>
        <p:nvSpPr>
          <p:cNvPr id="32" name="Shape 23"/>
          <p:cNvSpPr/>
          <p:nvPr/>
        </p:nvSpPr>
        <p:spPr>
          <a:xfrm>
            <a:off x="457200" y="5074920"/>
            <a:ext cx="1127455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7E1F0"/>
            </a:solidFill>
            <a:prstDash val="solid"/>
          </a:ln>
          <a:effectLst>
            <a:outerShdw blurRad="88900" dist="254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640080" y="5294376"/>
            <a:ext cx="475488" cy="475488"/>
          </a:xfrm>
          <a:prstGeom prst="ellipse">
            <a:avLst/>
          </a:prstGeom>
          <a:solidFill>
            <a:srgbClr val="0F2A52"/>
          </a:solidFill>
          <a:ln/>
        </p:spPr>
      </p:sp>
      <p:pic>
        <p:nvPicPr>
          <p:cNvPr id="34" name="Image 7" descr="/home/claude/work/icons/checkcirc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952" y="5413248"/>
            <a:ext cx="237744" cy="237744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1261872" y="5148072"/>
            <a:ext cx="10287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data-driven decision-making through meaningful visualizations and insights.</a:t>
            </a:r>
            <a:endParaRPr lang="en-US" sz="1400" dirty="0"/>
          </a:p>
        </p:txBody>
      </p:sp>
      <p:sp>
        <p:nvSpPr>
          <p:cNvPr id="36" name="Shape 26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D7E1F0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457200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8" name="Text 28"/>
          <p:cNvSpPr/>
          <p:nvPr/>
        </p:nvSpPr>
        <p:spPr>
          <a:xfrm>
            <a:off x="4114800" y="6492240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850" dirty="0"/>
          </a:p>
        </p:txBody>
      </p:sp>
      <p:sp>
        <p:nvSpPr>
          <p:cNvPr id="39" name="Text 29"/>
          <p:cNvSpPr/>
          <p:nvPr/>
        </p:nvSpPr>
        <p:spPr>
          <a:xfrm>
            <a:off x="11274552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285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xmlns="" id="{880E8F07-2DA9-6E3D-AB1B-D15455B42F6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17200" y="37299"/>
            <a:ext cx="1478978" cy="7503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ounded Rectangle 94"/>
          <p:cNvSpPr/>
          <p:nvPr/>
        </p:nvSpPr>
        <p:spPr>
          <a:xfrm>
            <a:off x="283464" y="5114832"/>
            <a:ext cx="11448288" cy="894084"/>
          </a:xfrm>
          <a:prstGeom prst="roundRect">
            <a:avLst/>
          </a:prstGeom>
          <a:solidFill>
            <a:schemeClr val="bg1"/>
          </a:solidFill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/>
          <p:cNvSpPr/>
          <p:nvPr/>
        </p:nvSpPr>
        <p:spPr>
          <a:xfrm>
            <a:off x="457200" y="557784"/>
            <a:ext cx="1082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700" dirty="0"/>
          </a:p>
        </p:txBody>
      </p:sp>
      <p:sp>
        <p:nvSpPr>
          <p:cNvPr id="15" name="Shape 11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D7E1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457200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114800" y="6492240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1000" b="0">
                <a:solidFill>
                  <a:srgbClr val="586471"/>
                </a:solidFill>
                <a:latin typeface="Aptos"/>
              </a:rPr>
              <a:t>Dataset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11274552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0" dirty="0" smtClean="0">
                <a:solidFill>
                  <a:srgbClr val="586471"/>
                </a:solidFill>
                <a:latin typeface="Aptos"/>
              </a:rPr>
              <a:t>0</a:t>
            </a:r>
            <a:r>
              <a:rPr sz="900" b="0" smtClean="0">
                <a:solidFill>
                  <a:srgbClr val="586471"/>
                </a:solidFill>
                <a:latin typeface="Aptos"/>
              </a:rPr>
              <a:t>4</a:t>
            </a:r>
            <a:endParaRPr lang="en-US" sz="85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xmlns="" id="{880E8F07-2DA9-6E3D-AB1B-D15455B42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7200" y="37299"/>
            <a:ext cx="1478978" cy="750391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457200" y="1097280"/>
            <a:ext cx="566928" cy="36576"/>
          </a:xfrm>
          <a:prstGeom prst="rect">
            <a:avLst/>
          </a:prstGeom>
          <a:solidFill>
            <a:srgbClr val="1F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57200" y="1417320"/>
            <a:ext cx="2606040" cy="1143000"/>
          </a:xfrm>
          <a:prstGeom prst="roundRect">
            <a:avLst/>
          </a:prstGeom>
          <a:solidFill>
            <a:schemeClr val="bg1"/>
          </a:solidFill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1792" y="1572768"/>
            <a:ext cx="2267712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900" b="1" smtClean="0">
                <a:solidFill>
                  <a:srgbClr val="122F50"/>
                </a:solidFill>
                <a:latin typeface="Aptos"/>
              </a:rPr>
              <a:t>180,519</a:t>
            </a:r>
            <a:endParaRPr sz="1900" b="1">
              <a:solidFill>
                <a:srgbClr val="122F50"/>
              </a:solidFill>
              <a:latin typeface="Apto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21792" y="1947672"/>
            <a:ext cx="2267712" cy="2708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1F9791"/>
                </a:solidFill>
                <a:latin typeface="Aptos"/>
              </a:rPr>
              <a:t>Rows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" y="2185416"/>
            <a:ext cx="2267712" cy="24006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dirty="0">
                <a:solidFill>
                  <a:srgbClr val="586471"/>
                </a:solidFill>
                <a:latin typeface="Aptos"/>
              </a:rPr>
              <a:t>Original Kaggle dataset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83280" y="1417320"/>
            <a:ext cx="2606040" cy="1143000"/>
          </a:xfrm>
          <a:prstGeom prst="roundRect">
            <a:avLst/>
          </a:prstGeom>
          <a:solidFill>
            <a:schemeClr val="bg1"/>
          </a:solidFill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547872" y="1572768"/>
            <a:ext cx="2267712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900" b="1">
                <a:solidFill>
                  <a:srgbClr val="122F50"/>
                </a:solidFill>
                <a:latin typeface="Aptos"/>
              </a:rPr>
              <a:t>53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47872" y="1947672"/>
            <a:ext cx="2267712" cy="2708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1F9791"/>
                </a:solidFill>
                <a:latin typeface="Aptos"/>
              </a:rPr>
              <a:t>Columns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47872" y="2185416"/>
            <a:ext cx="2267712" cy="24006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dirty="0">
                <a:solidFill>
                  <a:srgbClr val="586471"/>
                </a:solidFill>
                <a:latin typeface="Aptos"/>
              </a:rPr>
              <a:t>Original dataset fields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09360" y="1417320"/>
            <a:ext cx="2606040" cy="1143000"/>
          </a:xfrm>
          <a:prstGeom prst="roundRect">
            <a:avLst/>
          </a:prstGeom>
          <a:solidFill>
            <a:schemeClr val="bg1"/>
          </a:solidFill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73952" y="1572768"/>
            <a:ext cx="2267712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900" b="1">
                <a:solidFill>
                  <a:srgbClr val="122F50"/>
                </a:solidFill>
                <a:latin typeface="Aptos"/>
              </a:rPr>
              <a:t>Kaggle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73952" y="1947672"/>
            <a:ext cx="2267712" cy="2708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1F9791"/>
                </a:solidFill>
                <a:latin typeface="Aptos"/>
              </a:rPr>
              <a:t>Source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73952" y="2185416"/>
            <a:ext cx="2267712" cy="24006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dirty="0" err="1">
                <a:solidFill>
                  <a:srgbClr val="586471"/>
                </a:solidFill>
                <a:latin typeface="Aptos"/>
              </a:rPr>
              <a:t>DataCo</a:t>
            </a:r>
            <a:r>
              <a:rPr sz="1200" b="0" dirty="0">
                <a:solidFill>
                  <a:srgbClr val="586471"/>
                </a:solidFill>
                <a:latin typeface="Aptos"/>
              </a:rPr>
              <a:t> Global Supply Chain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235440" y="1417320"/>
            <a:ext cx="2606040" cy="1143000"/>
          </a:xfrm>
          <a:prstGeom prst="roundRect">
            <a:avLst/>
          </a:prstGeom>
          <a:solidFill>
            <a:schemeClr val="bg1"/>
          </a:solidFill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337038" y="1572768"/>
            <a:ext cx="260604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122F50"/>
                </a:solidFill>
                <a:latin typeface="Aptos"/>
              </a:rPr>
              <a:t>PostgreSQL </a:t>
            </a:r>
            <a:r>
              <a:rPr sz="1650" b="1" smtClean="0">
                <a:solidFill>
                  <a:srgbClr val="122F50"/>
                </a:solidFill>
                <a:latin typeface="Aptos"/>
              </a:rPr>
              <a:t>→</a:t>
            </a:r>
            <a:r>
              <a:rPr lang="en-US" sz="1650" b="1" dirty="0" smtClean="0">
                <a:solidFill>
                  <a:srgbClr val="122F50"/>
                </a:solidFill>
                <a:latin typeface="Aptos"/>
              </a:rPr>
              <a:t>  </a:t>
            </a:r>
            <a:r>
              <a:rPr sz="1650" b="1" smtClean="0">
                <a:solidFill>
                  <a:srgbClr val="122F50"/>
                </a:solidFill>
                <a:latin typeface="Aptos"/>
              </a:rPr>
              <a:t>Power </a:t>
            </a:r>
            <a:r>
              <a:rPr sz="1650" b="1">
                <a:solidFill>
                  <a:srgbClr val="122F50"/>
                </a:solidFill>
                <a:latin typeface="Aptos"/>
              </a:rPr>
              <a:t>BI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00032" y="1947672"/>
            <a:ext cx="2267712" cy="2708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1F9791"/>
                </a:solidFill>
                <a:latin typeface="Aptos"/>
              </a:rPr>
              <a:t>Data flow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00032" y="2185416"/>
            <a:ext cx="2267712" cy="24006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dirty="0">
                <a:solidFill>
                  <a:srgbClr val="586471"/>
                </a:solidFill>
                <a:latin typeface="Aptos"/>
              </a:rPr>
              <a:t>Database to BI model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2846976"/>
            <a:ext cx="553212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85800" y="2971800"/>
            <a:ext cx="5029200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 dirty="0">
                <a:solidFill>
                  <a:srgbClr val="122F50"/>
                </a:solidFill>
                <a:latin typeface="Times New Roman" pitchFamily="18" charset="0"/>
                <a:cs typeface="Times New Roman" pitchFamily="18" charset="0"/>
              </a:rPr>
              <a:t>DATA DESCRIPTION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" y="3391842"/>
            <a:ext cx="5029200" cy="104028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just"/>
            <a:r>
              <a:rPr sz="1600" b="0" dirty="0">
                <a:solidFill>
                  <a:srgbClr val="263443"/>
                </a:solidFill>
              </a:rPr>
              <a:t>The </a:t>
            </a:r>
            <a:r>
              <a:rPr sz="1600" b="0" dirty="0" err="1">
                <a:solidFill>
                  <a:srgbClr val="263443"/>
                </a:solidFill>
              </a:rPr>
              <a:t>DataCo</a:t>
            </a:r>
            <a:r>
              <a:rPr sz="1600" b="0" dirty="0">
                <a:solidFill>
                  <a:srgbClr val="263443"/>
                </a:solidFill>
              </a:rPr>
              <a:t> Global Supply Chain Dataset contains transactional and operational information covering customers, products, orders, inventory, shipping, suppliers, warehouses, sales, profit, delivery and regional data.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17920" y="2832461"/>
            <a:ext cx="5513832" cy="208136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519672" y="2961418"/>
            <a:ext cx="5029200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 dirty="0">
                <a:solidFill>
                  <a:srgbClr val="122F50"/>
                </a:solidFill>
                <a:latin typeface="Times New Roman" pitchFamily="18" charset="0"/>
                <a:cs typeface="Times New Roman" pitchFamily="18" charset="0"/>
              </a:rPr>
              <a:t>TABLES INCLUDED IN THE MODEL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46520" y="3337560"/>
            <a:ext cx="2286000" cy="153272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0" dirty="0">
                <a:solidFill>
                  <a:srgbClr val="263443"/>
                </a:solidFill>
                <a:latin typeface="Times New Roman" pitchFamily="18" charset="0"/>
                <a:cs typeface="Times New Roman" pitchFamily="18" charset="0"/>
              </a:rPr>
              <a:t>Fact Table
</a:t>
            </a:r>
            <a:r>
              <a:rPr sz="1600" b="0" dirty="0" err="1">
                <a:solidFill>
                  <a:srgbClr val="263443"/>
                </a:solidFill>
                <a:latin typeface="Times New Roman" pitchFamily="18" charset="0"/>
                <a:cs typeface="Times New Roman" pitchFamily="18" charset="0"/>
              </a:rPr>
              <a:t>Dim_Customer</a:t>
            </a:r>
            <a:r>
              <a:rPr sz="1600" b="0" dirty="0">
                <a:solidFill>
                  <a:srgbClr val="263443"/>
                </a:solidFill>
                <a:latin typeface="Times New Roman" pitchFamily="18" charset="0"/>
                <a:cs typeface="Times New Roman" pitchFamily="18" charset="0"/>
              </a:rPr>
              <a:t>
</a:t>
            </a:r>
            <a:r>
              <a:rPr sz="1600" b="0" dirty="0" err="1">
                <a:solidFill>
                  <a:srgbClr val="263443"/>
                </a:solidFill>
                <a:latin typeface="Times New Roman" pitchFamily="18" charset="0"/>
                <a:cs typeface="Times New Roman" pitchFamily="18" charset="0"/>
              </a:rPr>
              <a:t>Dim_Product</a:t>
            </a:r>
            <a:r>
              <a:rPr sz="1600" b="0" dirty="0">
                <a:solidFill>
                  <a:srgbClr val="263443"/>
                </a:solidFill>
                <a:latin typeface="Times New Roman" pitchFamily="18" charset="0"/>
                <a:cs typeface="Times New Roman" pitchFamily="18" charset="0"/>
              </a:rPr>
              <a:t>
</a:t>
            </a:r>
            <a:r>
              <a:rPr sz="1600" b="0" dirty="0" err="1">
                <a:solidFill>
                  <a:srgbClr val="263443"/>
                </a:solidFill>
                <a:latin typeface="Times New Roman" pitchFamily="18" charset="0"/>
                <a:cs typeface="Times New Roman" pitchFamily="18" charset="0"/>
              </a:rPr>
              <a:t>Dim_Category</a:t>
            </a:r>
            <a:r>
              <a:rPr sz="1600" b="0" dirty="0">
                <a:solidFill>
                  <a:srgbClr val="263443"/>
                </a:solidFill>
                <a:latin typeface="Times New Roman" pitchFamily="18" charset="0"/>
                <a:cs typeface="Times New Roman" pitchFamily="18" charset="0"/>
              </a:rPr>
              <a:t>
</a:t>
            </a:r>
            <a:r>
              <a:rPr sz="1600" b="0" dirty="0" err="1">
                <a:solidFill>
                  <a:srgbClr val="263443"/>
                </a:solidFill>
                <a:latin typeface="Times New Roman" pitchFamily="18" charset="0"/>
                <a:cs typeface="Times New Roman" pitchFamily="18" charset="0"/>
              </a:rPr>
              <a:t>Dim_Department</a:t>
            </a:r>
            <a:r>
              <a:rPr sz="1600" b="0" dirty="0">
                <a:solidFill>
                  <a:srgbClr val="263443"/>
                </a:solidFill>
                <a:latin typeface="Times New Roman" pitchFamily="18" charset="0"/>
                <a:cs typeface="Times New Roman" pitchFamily="18" charset="0"/>
              </a:rPr>
              <a:t>
</a:t>
            </a:r>
            <a:r>
              <a:rPr sz="1600" b="0" dirty="0" err="1">
                <a:solidFill>
                  <a:srgbClr val="263443"/>
                </a:solidFill>
                <a:latin typeface="Times New Roman" pitchFamily="18" charset="0"/>
                <a:cs typeface="Times New Roman" pitchFamily="18" charset="0"/>
              </a:rPr>
              <a:t>Dim_Shipping</a:t>
            </a:r>
            <a:endParaRPr sz="1600" b="0" dirty="0">
              <a:solidFill>
                <a:srgbClr val="263443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869680" y="3337560"/>
            <a:ext cx="2468880" cy="128650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0" dirty="0" err="1">
                <a:solidFill>
                  <a:srgbClr val="263443"/>
                </a:solidFill>
                <a:latin typeface="Times New Roman" pitchFamily="18" charset="0"/>
                <a:cs typeface="Times New Roman" pitchFamily="18" charset="0"/>
              </a:rPr>
              <a:t>Dim_Location</a:t>
            </a:r>
            <a:r>
              <a:rPr sz="1600" b="0" dirty="0">
                <a:solidFill>
                  <a:srgbClr val="263443"/>
                </a:solidFill>
                <a:latin typeface="Times New Roman" pitchFamily="18" charset="0"/>
                <a:cs typeface="Times New Roman" pitchFamily="18" charset="0"/>
              </a:rPr>
              <a:t>
</a:t>
            </a:r>
            <a:r>
              <a:rPr sz="1600" b="0" dirty="0" err="1">
                <a:solidFill>
                  <a:srgbClr val="263443"/>
                </a:solidFill>
                <a:latin typeface="Times New Roman" pitchFamily="18" charset="0"/>
                <a:cs typeface="Times New Roman" pitchFamily="18" charset="0"/>
              </a:rPr>
              <a:t>Dim_Date</a:t>
            </a:r>
            <a:r>
              <a:rPr sz="1600" b="0" dirty="0">
                <a:solidFill>
                  <a:srgbClr val="263443"/>
                </a:solidFill>
                <a:latin typeface="Times New Roman" pitchFamily="18" charset="0"/>
                <a:cs typeface="Times New Roman" pitchFamily="18" charset="0"/>
              </a:rPr>
              <a:t>
</a:t>
            </a:r>
            <a:r>
              <a:rPr sz="1600" b="0" dirty="0" err="1">
                <a:solidFill>
                  <a:srgbClr val="263443"/>
                </a:solidFill>
                <a:latin typeface="Times New Roman" pitchFamily="18" charset="0"/>
                <a:cs typeface="Times New Roman" pitchFamily="18" charset="0"/>
              </a:rPr>
              <a:t>Dim_Supplier</a:t>
            </a:r>
            <a:r>
              <a:rPr sz="1600" b="0" dirty="0">
                <a:solidFill>
                  <a:srgbClr val="263443"/>
                </a:solidFill>
                <a:latin typeface="Times New Roman" pitchFamily="18" charset="0"/>
                <a:cs typeface="Times New Roman" pitchFamily="18" charset="0"/>
              </a:rPr>
              <a:t>
</a:t>
            </a:r>
            <a:r>
              <a:rPr sz="1600" b="0" dirty="0" err="1">
                <a:solidFill>
                  <a:srgbClr val="263443"/>
                </a:solidFill>
                <a:latin typeface="Times New Roman" pitchFamily="18" charset="0"/>
                <a:cs typeface="Times New Roman" pitchFamily="18" charset="0"/>
              </a:rPr>
              <a:t>Dim_Warehouse</a:t>
            </a:r>
            <a:r>
              <a:rPr sz="1600" b="0" dirty="0">
                <a:solidFill>
                  <a:srgbClr val="263443"/>
                </a:solidFill>
                <a:latin typeface="Times New Roman" pitchFamily="18" charset="0"/>
                <a:cs typeface="Times New Roman" pitchFamily="18" charset="0"/>
              </a:rPr>
              <a:t>
</a:t>
            </a:r>
            <a:r>
              <a:rPr sz="1600" b="0" dirty="0" err="1">
                <a:solidFill>
                  <a:srgbClr val="263443"/>
                </a:solidFill>
                <a:latin typeface="Times New Roman" pitchFamily="18" charset="0"/>
                <a:cs typeface="Times New Roman" pitchFamily="18" charset="0"/>
              </a:rPr>
              <a:t>Dim_Inventory</a:t>
            </a:r>
            <a:endParaRPr sz="1600" b="0" dirty="0">
              <a:solidFill>
                <a:srgbClr val="263443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0" name="Text 2"/>
          <p:cNvSpPr/>
          <p:nvPr/>
        </p:nvSpPr>
        <p:spPr>
          <a:xfrm>
            <a:off x="457200" y="557784"/>
            <a:ext cx="1082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 smtClean="0">
                <a:solidFill>
                  <a:srgbClr val="0F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</a:t>
            </a:r>
            <a:r>
              <a:rPr lang="en-US" sz="2700" b="1" dirty="0" smtClean="0">
                <a:solidFill>
                  <a:srgbClr val="0F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</a:t>
            </a:r>
            <a:r>
              <a:rPr lang="en-US" sz="2700" b="1" dirty="0">
                <a:solidFill>
                  <a:srgbClr val="0F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2700" dirty="0"/>
          </a:p>
        </p:txBody>
      </p:sp>
      <p:sp>
        <p:nvSpPr>
          <p:cNvPr id="81" name="Shape 3"/>
          <p:cNvSpPr/>
          <p:nvPr/>
        </p:nvSpPr>
        <p:spPr>
          <a:xfrm>
            <a:off x="457200" y="1097280"/>
            <a:ext cx="566928" cy="32004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83" name="Shape AccentTOO"/>
          <p:cNvSpPr/>
          <p:nvPr/>
        </p:nvSpPr>
        <p:spPr>
          <a:xfrm>
            <a:off x="553720" y="5488575"/>
            <a:ext cx="73152" cy="155448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84" name="Text HeaderTOO"/>
          <p:cNvSpPr/>
          <p:nvPr/>
        </p:nvSpPr>
        <p:spPr>
          <a:xfrm>
            <a:off x="718312" y="5465715"/>
            <a:ext cx="2344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50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dirty="0"/>
          </a:p>
        </p:txBody>
      </p:sp>
      <p:sp>
        <p:nvSpPr>
          <p:cNvPr id="85" name="Shape 26"/>
          <p:cNvSpPr/>
          <p:nvPr/>
        </p:nvSpPr>
        <p:spPr>
          <a:xfrm>
            <a:off x="5207000" y="5306567"/>
            <a:ext cx="1524000" cy="4938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2856A3"/>
            </a:solidFill>
            <a:prstDash val="solid"/>
          </a:ln>
        </p:spPr>
      </p:sp>
      <p:sp>
        <p:nvSpPr>
          <p:cNvPr id="86" name="Text 27"/>
          <p:cNvSpPr/>
          <p:nvPr/>
        </p:nvSpPr>
        <p:spPr>
          <a:xfrm>
            <a:off x="5240020" y="5411794"/>
            <a:ext cx="1440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2A52"/>
                </a:solidFill>
                <a:latin typeface="Calibri" pitchFamily="34" charset="0"/>
                <a:cs typeface="Calibri" pitchFamily="34" charset="-120"/>
              </a:rPr>
              <a:t>Power Query</a:t>
            </a:r>
            <a:endParaRPr lang="en-US" sz="1700" dirty="0"/>
          </a:p>
        </p:txBody>
      </p:sp>
      <p:sp>
        <p:nvSpPr>
          <p:cNvPr id="87" name="Shape 26"/>
          <p:cNvSpPr/>
          <p:nvPr/>
        </p:nvSpPr>
        <p:spPr>
          <a:xfrm>
            <a:off x="6875512" y="5306567"/>
            <a:ext cx="1379488" cy="4938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2856A3"/>
            </a:solidFill>
            <a:prstDash val="solid"/>
          </a:ln>
        </p:spPr>
      </p:sp>
      <p:sp>
        <p:nvSpPr>
          <p:cNvPr id="88" name="Text 27"/>
          <p:cNvSpPr/>
          <p:nvPr/>
        </p:nvSpPr>
        <p:spPr>
          <a:xfrm>
            <a:off x="6903378" y="5411794"/>
            <a:ext cx="1303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2A52"/>
                </a:solidFill>
                <a:latin typeface="Calibri" pitchFamily="34" charset="0"/>
                <a:cs typeface="Calibri" pitchFamily="34" charset="-120"/>
              </a:rPr>
              <a:t>DAX</a:t>
            </a:r>
            <a:endParaRPr lang="en-US" sz="1700" dirty="0"/>
          </a:p>
        </p:txBody>
      </p:sp>
      <p:sp>
        <p:nvSpPr>
          <p:cNvPr id="89" name="Shape 26"/>
          <p:cNvSpPr/>
          <p:nvPr/>
        </p:nvSpPr>
        <p:spPr>
          <a:xfrm>
            <a:off x="8394700" y="5310195"/>
            <a:ext cx="1524000" cy="4938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2856A3"/>
            </a:solidFill>
            <a:prstDash val="solid"/>
          </a:ln>
        </p:spPr>
      </p:sp>
      <p:sp>
        <p:nvSpPr>
          <p:cNvPr id="90" name="Text 27"/>
          <p:cNvSpPr/>
          <p:nvPr/>
        </p:nvSpPr>
        <p:spPr>
          <a:xfrm>
            <a:off x="8427720" y="5415422"/>
            <a:ext cx="1440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 err="1">
                <a:solidFill>
                  <a:srgbClr val="0F2A52"/>
                </a:solidFill>
                <a:latin typeface="Calibri" pitchFamily="34" charset="0"/>
                <a:cs typeface="Calibri" pitchFamily="34" charset="-120"/>
              </a:rPr>
              <a:t>PostgreSQL</a:t>
            </a:r>
            <a:endParaRPr lang="en-US" sz="1700" dirty="0"/>
          </a:p>
        </p:txBody>
      </p:sp>
      <p:sp>
        <p:nvSpPr>
          <p:cNvPr id="91" name="Shape 26"/>
          <p:cNvSpPr/>
          <p:nvPr/>
        </p:nvSpPr>
        <p:spPr>
          <a:xfrm>
            <a:off x="10058400" y="5310195"/>
            <a:ext cx="1524000" cy="4938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2856A3"/>
            </a:solidFill>
            <a:prstDash val="solid"/>
          </a:ln>
        </p:spPr>
      </p:sp>
      <p:sp>
        <p:nvSpPr>
          <p:cNvPr id="92" name="Text 27"/>
          <p:cNvSpPr/>
          <p:nvPr/>
        </p:nvSpPr>
        <p:spPr>
          <a:xfrm>
            <a:off x="10091420" y="5415422"/>
            <a:ext cx="1440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 err="1">
                <a:solidFill>
                  <a:srgbClr val="0F2A52"/>
                </a:solidFill>
                <a:latin typeface="Calibri" pitchFamily="34" charset="0"/>
                <a:cs typeface="Calibri" pitchFamily="34" charset="-120"/>
              </a:rPr>
              <a:t>Github</a:t>
            </a:r>
            <a:endParaRPr lang="en-US" sz="1700" dirty="0"/>
          </a:p>
        </p:txBody>
      </p:sp>
      <p:sp>
        <p:nvSpPr>
          <p:cNvPr id="93" name="Shape 26"/>
          <p:cNvSpPr/>
          <p:nvPr/>
        </p:nvSpPr>
        <p:spPr>
          <a:xfrm>
            <a:off x="3178629" y="5313827"/>
            <a:ext cx="1905035" cy="4938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2856A3"/>
            </a:solidFill>
            <a:prstDash val="solid"/>
          </a:ln>
        </p:spPr>
      </p:sp>
      <p:sp>
        <p:nvSpPr>
          <p:cNvPr id="94" name="Text 27"/>
          <p:cNvSpPr/>
          <p:nvPr/>
        </p:nvSpPr>
        <p:spPr>
          <a:xfrm>
            <a:off x="3232606" y="5419054"/>
            <a:ext cx="1800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2A52"/>
                </a:solidFill>
                <a:latin typeface="Calibri" pitchFamily="34" charset="0"/>
                <a:cs typeface="Calibri" pitchFamily="34" charset="-120"/>
              </a:rPr>
              <a:t>Power </a:t>
            </a:r>
            <a:r>
              <a:rPr lang="en-US" sz="1700" b="1" dirty="0" smtClean="0">
                <a:solidFill>
                  <a:srgbClr val="0F2A52"/>
                </a:solidFill>
                <a:latin typeface="Calibri" pitchFamily="34" charset="0"/>
                <a:cs typeface="Calibri" pitchFamily="34" charset="-120"/>
              </a:rPr>
              <a:t>BI Desktop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F2A52"/>
          </a:solidFill>
          <a:ln/>
          <a:effectLst>
            <a:outerShdw blurRad="63500" dist="25400" dir="5400000" algn="bl" rotWithShape="0">
              <a:srgbClr val="0F2A52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/home/claude/work/icons/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21208"/>
            <a:ext cx="292608" cy="292608"/>
          </a:xfrm>
          <a:prstGeom prst="rect">
            <a:avLst/>
          </a:prstGeom>
        </p:spPr>
      </p:pic>
      <p:sp>
        <p:nvSpPr>
          <p:cNvPr id="47" name="Shape 37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D7E1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38"/>
          <p:cNvSpPr/>
          <p:nvPr/>
        </p:nvSpPr>
        <p:spPr>
          <a:xfrm>
            <a:off x="457200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49" name="Text 39"/>
          <p:cNvSpPr/>
          <p:nvPr/>
        </p:nvSpPr>
        <p:spPr>
          <a:xfrm>
            <a:off x="4114800" y="6492240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b="0">
                <a:solidFill>
                  <a:srgbClr val="586471"/>
                </a:solidFill>
                <a:latin typeface="Aptos"/>
              </a:rPr>
              <a:t>Data Preparation</a:t>
            </a:r>
            <a:endParaRPr lang="en-US" sz="850" dirty="0"/>
          </a:p>
        </p:txBody>
      </p:sp>
      <p:sp>
        <p:nvSpPr>
          <p:cNvPr id="50" name="Text 40"/>
          <p:cNvSpPr/>
          <p:nvPr/>
        </p:nvSpPr>
        <p:spPr>
          <a:xfrm>
            <a:off x="11274552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0" dirty="0" smtClean="0">
                <a:solidFill>
                  <a:srgbClr val="58647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sz="900" b="0" smtClean="0">
                <a:solidFill>
                  <a:srgbClr val="586471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endParaRPr lang="en-US" sz="85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880E8F07-2DA9-6E3D-AB1B-D15455B42F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9900" y="37299"/>
            <a:ext cx="1478978" cy="750391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457200" y="1097280"/>
            <a:ext cx="566928" cy="36576"/>
          </a:xfrm>
          <a:prstGeom prst="rect">
            <a:avLst/>
          </a:prstGeom>
          <a:solidFill>
            <a:srgbClr val="1F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457200" y="1417320"/>
            <a:ext cx="3273552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08076" y="1664339"/>
            <a:ext cx="2852928" cy="2708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dirty="0">
                <a:solidFill>
                  <a:srgbClr val="122F50"/>
                </a:solidFill>
                <a:latin typeface="Georgia"/>
              </a:rPr>
              <a:t>DATA CLEANING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" y="2002536"/>
            <a:ext cx="2852928" cy="7478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just"/>
            <a:r>
              <a:rPr sz="1500" b="0" dirty="0">
                <a:solidFill>
                  <a:srgbClr val="263443"/>
                </a:solidFill>
                <a:latin typeface="Aptos"/>
              </a:rPr>
              <a:t>Removed unnecessary columns, duplicate records, and checked missing values before analysis.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069080" y="1417320"/>
            <a:ext cx="3273552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270248" y="1618488"/>
            <a:ext cx="2852928" cy="2708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dirty="0">
                <a:solidFill>
                  <a:srgbClr val="122F50"/>
                </a:solidFill>
                <a:latin typeface="Georgia"/>
              </a:rPr>
              <a:t>CHANGING DATA TYPES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70248" y="1958994"/>
            <a:ext cx="2852928" cy="97872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just"/>
            <a:r>
              <a:rPr sz="1500" b="0" dirty="0">
                <a:solidFill>
                  <a:srgbClr val="263443"/>
                </a:solidFill>
                <a:latin typeface="Aptos"/>
              </a:rPr>
              <a:t>Converted dates, numeric fields, and categorical columns to the correct data types for reliable calculations.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671816" y="1417319"/>
            <a:ext cx="3273552" cy="1582543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882127" y="1482202"/>
            <a:ext cx="2916935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dirty="0">
                <a:solidFill>
                  <a:srgbClr val="122F50"/>
                </a:solidFill>
                <a:latin typeface="Georgia"/>
              </a:rPr>
              <a:t>CHOOSING DIMENSION COLUMNS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82128" y="1973508"/>
            <a:ext cx="2852928" cy="97872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just"/>
            <a:r>
              <a:rPr sz="1500" b="0" dirty="0">
                <a:solidFill>
                  <a:srgbClr val="263443"/>
                </a:solidFill>
                <a:latin typeface="Aptos"/>
              </a:rPr>
              <a:t>Selected only the necessary columns for Customer, Product, Shipping, Location, Date and other dimensions.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7200" y="3246120"/>
            <a:ext cx="3273552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58368" y="3447288"/>
            <a:ext cx="2852928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dirty="0">
                <a:solidFill>
                  <a:srgbClr val="122F50"/>
                </a:solidFill>
                <a:latin typeface="Georgia"/>
              </a:rPr>
              <a:t>FACT &amp; DIMENSION SEPARATION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0936" y="3973323"/>
            <a:ext cx="2852928" cy="7478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500" b="0" dirty="0">
                <a:solidFill>
                  <a:srgbClr val="263443"/>
                </a:solidFill>
                <a:latin typeface="Aptos"/>
              </a:rPr>
              <a:t>Kept transactional order data in the Fact Table and descriptive attributes in Dimension Tables.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069080" y="3246120"/>
            <a:ext cx="3273552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270248" y="3447288"/>
            <a:ext cx="2852928" cy="2708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dirty="0">
                <a:solidFill>
                  <a:srgbClr val="122F50"/>
                </a:solidFill>
                <a:latin typeface="Georgia"/>
              </a:rPr>
              <a:t>RELATIONSHIP SETUP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70248" y="3831335"/>
            <a:ext cx="2852928" cy="7940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600" b="0" dirty="0">
                <a:solidFill>
                  <a:srgbClr val="263443"/>
                </a:solidFill>
                <a:latin typeface="Times New Roman" pitchFamily="18" charset="0"/>
                <a:cs typeface="Times New Roman" pitchFamily="18" charset="0"/>
              </a:rPr>
              <a:t>Established one-to-many relationships between the Fact Table and Dimension Tables.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680960" y="3246120"/>
            <a:ext cx="3273552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882128" y="3447288"/>
            <a:ext cx="2852928" cy="2708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dirty="0">
                <a:solidFill>
                  <a:srgbClr val="122F50"/>
                </a:solidFill>
                <a:latin typeface="Georgia"/>
              </a:rPr>
              <a:t>DAX &amp; KPI PREPARATION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82128" y="3831335"/>
            <a:ext cx="2852928" cy="74789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500" b="0" dirty="0">
                <a:solidFill>
                  <a:srgbClr val="263443"/>
                </a:solidFill>
                <a:latin typeface="Aptos"/>
              </a:rPr>
              <a:t>Created reusable measures and KPIs required for dashboard analysis.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71714" y="5138928"/>
            <a:ext cx="11274552" cy="749808"/>
          </a:xfrm>
          <a:prstGeom prst="roundRect">
            <a:avLst/>
          </a:prstGeom>
          <a:solidFill>
            <a:srgbClr val="EEF5F5"/>
          </a:solidFill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58798" y="5285232"/>
            <a:ext cx="1930680" cy="51706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500" b="1" dirty="0">
                <a:solidFill>
                  <a:srgbClr val="1F9791"/>
                </a:solidFill>
                <a:latin typeface="Times New Roman" pitchFamily="18" charset="0"/>
                <a:cs typeface="Times New Roman" pitchFamily="18" charset="0"/>
              </a:rPr>
              <a:t>TRANSFORMATION FLOW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579320" y="5288424"/>
            <a:ext cx="1353313" cy="3931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2518506" y="5355192"/>
            <a:ext cx="1435608" cy="255455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300" b="1" dirty="0">
                <a:solidFill>
                  <a:srgbClr val="122F50"/>
                </a:solidFill>
                <a:latin typeface="Aptos"/>
              </a:rPr>
              <a:t>Raw Data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941778" y="5370720"/>
            <a:ext cx="2743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9791"/>
                </a:solidFill>
                <a:latin typeface="Aptos"/>
              </a:rPr>
              <a:t>→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298394" y="5288424"/>
            <a:ext cx="1508760" cy="3931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334970" y="5369706"/>
            <a:ext cx="1435608" cy="255455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300" b="1" dirty="0">
                <a:solidFill>
                  <a:srgbClr val="122F50"/>
                </a:solidFill>
                <a:latin typeface="Aptos"/>
              </a:rPr>
              <a:t>Power Query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816298" y="5370720"/>
            <a:ext cx="2743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9791"/>
                </a:solidFill>
                <a:latin typeface="Aptos"/>
              </a:rPr>
              <a:t>→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172914" y="5288424"/>
            <a:ext cx="1508760" cy="3931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224004" y="5370720"/>
            <a:ext cx="1435608" cy="24006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200" b="1" dirty="0">
                <a:solidFill>
                  <a:srgbClr val="122F50"/>
                </a:solidFill>
                <a:latin typeface="Aptos"/>
              </a:rPr>
              <a:t>Fact + Dimensions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90818" y="5370720"/>
            <a:ext cx="2743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9791"/>
                </a:solidFill>
                <a:latin typeface="Aptos"/>
              </a:rPr>
              <a:t>→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047433" y="5288424"/>
            <a:ext cx="1508760" cy="3931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084009" y="5356206"/>
            <a:ext cx="1435608" cy="255455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300" b="1" dirty="0">
                <a:solidFill>
                  <a:srgbClr val="122F50"/>
                </a:solidFill>
                <a:latin typeface="Aptos"/>
              </a:rPr>
              <a:t>Relationships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565337" y="5370720"/>
            <a:ext cx="27432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9791"/>
                </a:solidFill>
                <a:latin typeface="Aptos"/>
              </a:rPr>
              <a:t>→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921954" y="5288424"/>
            <a:ext cx="1508760" cy="3931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958529" y="5355192"/>
            <a:ext cx="1435608" cy="255455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300" b="1" dirty="0">
                <a:solidFill>
                  <a:srgbClr val="122F50"/>
                </a:solidFill>
                <a:latin typeface="Aptos"/>
              </a:rPr>
              <a:t>DAX &amp; KPIs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70432" y="493776"/>
            <a:ext cx="95097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22F50"/>
                </a:solidFill>
                <a:latin typeface="Georgia"/>
              </a:rPr>
              <a:t>Data Preparation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1097280"/>
            <a:ext cx="566928" cy="36576"/>
          </a:xfrm>
          <a:prstGeom prst="rect">
            <a:avLst/>
          </a:prstGeom>
          <a:solidFill>
            <a:srgbClr val="1F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F2A52"/>
          </a:solidFill>
          <a:ln/>
          <a:effectLst>
            <a:outerShdw blurRad="63500" dist="25400" dir="5400000" algn="bl" rotWithShape="0">
              <a:srgbClr val="0F2A52">
                <a:alpha val="28000"/>
              </a:srgbClr>
            </a:outerShdw>
          </a:effectLst>
        </p:spPr>
      </p:sp>
      <p:pic>
        <p:nvPicPr>
          <p:cNvPr id="3" name="Image 0" descr="/home/claude/work/icons/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2120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0432" y="55778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 smtClean="0">
                <a:solidFill>
                  <a:srgbClr val="0F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</a:t>
            </a:r>
            <a:r>
              <a:rPr lang="en-US" sz="2700" b="1" dirty="0">
                <a:solidFill>
                  <a:srgbClr val="0F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566928" cy="32004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47" name="Shape 37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D7E1F0"/>
            </a:solidFill>
            <a:prstDash val="solid"/>
          </a:ln>
        </p:spPr>
      </p:sp>
      <p:sp>
        <p:nvSpPr>
          <p:cNvPr id="48" name="Text 38"/>
          <p:cNvSpPr/>
          <p:nvPr/>
        </p:nvSpPr>
        <p:spPr>
          <a:xfrm>
            <a:off x="457200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49" name="Text 39"/>
          <p:cNvSpPr/>
          <p:nvPr/>
        </p:nvSpPr>
        <p:spPr>
          <a:xfrm>
            <a:off x="4114800" y="6492240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</a:t>
            </a: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850" dirty="0"/>
          </a:p>
        </p:txBody>
      </p:sp>
      <p:sp>
        <p:nvSpPr>
          <p:cNvPr id="50" name="Text 40"/>
          <p:cNvSpPr/>
          <p:nvPr/>
        </p:nvSpPr>
        <p:spPr>
          <a:xfrm>
            <a:off x="11274552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285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xmlns="" id="{0D591EA0-29E0-B660-EB7C-0DE19DBF45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379" y="1258998"/>
            <a:ext cx="11488366" cy="52180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880E8F07-2DA9-6E3D-AB1B-D15455B42F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9900" y="37299"/>
            <a:ext cx="1478978" cy="7503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F2A52"/>
          </a:solidFill>
          <a:ln/>
          <a:effectLst>
            <a:outerShdw blurRad="63500" dist="25400" dir="5400000" algn="bl" rotWithShape="0">
              <a:srgbClr val="0F2A52">
                <a:alpha val="28000"/>
              </a:srgbClr>
            </a:outerShdw>
          </a:effectLst>
        </p:spPr>
      </p:sp>
      <p:pic>
        <p:nvPicPr>
          <p:cNvPr id="3" name="Image 0" descr="/home/claude/work/icons/site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2120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0432" y="55778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566928" cy="32004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1" y="1129935"/>
            <a:ext cx="11274552" cy="1208316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D7E1F0"/>
            </a:solidFill>
            <a:prstDash val="solid"/>
          </a:ln>
          <a:effectLst>
            <a:outerShdw blurRad="88900" dist="254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13232" y="1220066"/>
            <a:ext cx="82296" cy="173736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9" name="Text 6"/>
          <p:cNvSpPr/>
          <p:nvPr/>
        </p:nvSpPr>
        <p:spPr>
          <a:xfrm>
            <a:off x="896112" y="1179571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OVERVIEW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13232" y="1489162"/>
            <a:ext cx="11018520" cy="7315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just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 Star Schema to organize the dataset for efficient reporting and analysis.</a:t>
            </a:r>
            <a:endParaRPr lang="en-US" sz="1400" dirty="0"/>
          </a:p>
          <a:p>
            <a:pPr marL="203200" indent="-203200" algn="just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one Fact Table containing transactional order data and multiple Dimension Tables for Customers, Products, Suppliers, Warehouses, Shipping, Date, and Locations.</a:t>
            </a:r>
            <a:endParaRPr lang="en-US" sz="1400" dirty="0"/>
          </a:p>
          <a:p>
            <a:pPr marL="203200" indent="-203200" algn="just">
              <a:lnSpc>
                <a:spcPct val="108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one-to-many relationships between the Fact Table and Dimension Tables.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505989" y="425899"/>
            <a:ext cx="50890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4114800" y="3017520"/>
            <a:ext cx="7616952" cy="3291840"/>
          </a:xfrm>
          <a:prstGeom prst="roundRect">
            <a:avLst>
              <a:gd name="adj" fmla="val 1308"/>
            </a:avLst>
          </a:prstGeom>
          <a:solidFill>
            <a:srgbClr val="FFFFFF"/>
          </a:solidFill>
          <a:ln w="15875">
            <a:solidFill>
              <a:srgbClr val="D7E1F0"/>
            </a:solidFill>
            <a:prstDash val="solid"/>
          </a:ln>
          <a:effectLst>
            <a:outerShdw blurRad="114300" dist="25400" dir="5400000" algn="bl" rotWithShape="0">
              <a:srgbClr val="1B2A41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114800" y="2997943"/>
            <a:ext cx="7616952" cy="45720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18" name="Text 13"/>
          <p:cNvSpPr/>
          <p:nvPr/>
        </p:nvSpPr>
        <p:spPr>
          <a:xfrm>
            <a:off x="4892040" y="6016752"/>
            <a:ext cx="6839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Data Model — Power BI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D7E1F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57200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114800" y="6492240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11274552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 smtClean="0">
                <a:solidFill>
                  <a:srgbClr val="285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  <p:pic>
        <p:nvPicPr>
          <p:cNvPr id="1026" name="Picture 2" descr="E:\Infosys\PPT Data Model.jpe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7200" y="2377440"/>
            <a:ext cx="11274551" cy="4180115"/>
          </a:xfrm>
          <a:prstGeom prst="rect">
            <a:avLst/>
          </a:prstGeom>
          <a:noFill/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xmlns="" id="{880E8F07-2DA9-6E3D-AB1B-D15455B42F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7200" y="37299"/>
            <a:ext cx="1478978" cy="7503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F2A52"/>
          </a:solidFill>
          <a:ln/>
          <a:effectLst>
            <a:outerShdw blurRad="63500" dist="25400" dir="5400000" algn="bl" rotWithShape="0">
              <a:srgbClr val="0F2A52">
                <a:alpha val="28000"/>
              </a:srgbClr>
            </a:outerShdw>
          </a:effectLst>
        </p:spPr>
      </p:sp>
      <p:pic>
        <p:nvPicPr>
          <p:cNvPr id="3" name="Image 0" descr="/home/claude/work/icons/box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2120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0432" y="55778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Analytics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566928" cy="32004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371600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0F2A52"/>
          </a:solidFill>
          <a:ln/>
          <a:effectLst>
            <a:outerShdw blurRad="76200" dist="25400" dir="5400000" algn="bl" rotWithShape="0">
              <a:srgbClr val="0B1E3A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371600"/>
            <a:ext cx="1371600" cy="41148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9" name="Text 6"/>
          <p:cNvSpPr/>
          <p:nvPr/>
        </p:nvSpPr>
        <p:spPr>
          <a:xfrm>
            <a:off x="530352" y="1499616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 smtClean="0">
                <a:solidFill>
                  <a:srgbClr val="C99A3B"/>
                </a:solidFill>
                <a:latin typeface="Cambria" pitchFamily="34" charset="0"/>
                <a:ea typeface="Cambria" pitchFamily="34" charset="-122"/>
              </a:rPr>
              <a:t>0.47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457200" y="18470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9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Turnover Ratio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055222" y="1371600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0F2A52"/>
          </a:solidFill>
          <a:ln/>
          <a:effectLst>
            <a:outerShdw blurRad="76200" dist="25400" dir="5400000" algn="bl" rotWithShape="0">
              <a:srgbClr val="0B1E3A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040708" y="1371600"/>
            <a:ext cx="1371600" cy="41148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13" name="Text 10"/>
          <p:cNvSpPr/>
          <p:nvPr/>
        </p:nvSpPr>
        <p:spPr>
          <a:xfrm>
            <a:off x="2084832" y="1499616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 smtClean="0">
                <a:solidFill>
                  <a:srgbClr val="C9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46K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084832" y="1886277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9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Stock Quantity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566160" y="1371600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0F2A52"/>
          </a:solidFill>
          <a:ln/>
          <a:effectLst>
            <a:outerShdw blurRad="76200" dist="25400" dir="5400000" algn="bl" rotWithShape="0">
              <a:srgbClr val="0B1E3A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566160" y="1371600"/>
            <a:ext cx="1371600" cy="41148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17" name="Text 14"/>
          <p:cNvSpPr/>
          <p:nvPr/>
        </p:nvSpPr>
        <p:spPr>
          <a:xfrm>
            <a:off x="3639312" y="1499616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>
                <a:solidFill>
                  <a:srgbClr val="C9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152K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3600123" y="1886276"/>
            <a:ext cx="1298448" cy="289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9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Moving Qty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120640" y="1371600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0F2A52"/>
          </a:solidFill>
          <a:ln/>
          <a:effectLst>
            <a:outerShdw blurRad="76200" dist="25400" dir="5400000" algn="bl" rotWithShape="0">
              <a:srgbClr val="0B1E3A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120640" y="1371600"/>
            <a:ext cx="1371600" cy="41148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21" name="Text 18"/>
          <p:cNvSpPr/>
          <p:nvPr/>
        </p:nvSpPr>
        <p:spPr>
          <a:xfrm>
            <a:off x="5193792" y="1499616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>
                <a:solidFill>
                  <a:srgbClr val="C9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5167666" y="1878439"/>
            <a:ext cx="13158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9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2414016"/>
            <a:ext cx="6492240" cy="3008376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D7E1F0"/>
            </a:solidFill>
            <a:prstDash val="solid"/>
          </a:ln>
          <a:effectLst>
            <a:outerShdw blurRad="88900" dist="254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94944" y="2633472"/>
            <a:ext cx="82296" cy="173736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25" name="Text 22"/>
          <p:cNvSpPr/>
          <p:nvPr/>
        </p:nvSpPr>
        <p:spPr>
          <a:xfrm>
            <a:off x="877824" y="2606040"/>
            <a:ext cx="5833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694944" y="2871215"/>
            <a:ext cx="6016752" cy="2459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Turnover Ratio: </a:t>
            </a:r>
            <a:r>
              <a:rPr lang="en-US" sz="1250" dirty="0" smtClean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</a:t>
            </a:r>
            <a:r>
              <a:rPr lang="en-US" sz="1250" dirty="0" smtClean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indicating the efficiency of inventory movement.</a:t>
            </a:r>
            <a:endParaRPr lang="en-US" sz="1250" dirty="0"/>
          </a:p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identified </a:t>
            </a:r>
            <a:r>
              <a:rPr lang="en-US" sz="1250" dirty="0" smtClean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46K</a:t>
            </a:r>
            <a:r>
              <a:rPr lang="en-US" sz="1250" dirty="0" smtClean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Stock Quantity and 152K Slow Moving Quantity, helping identify products requiring attention.</a:t>
            </a:r>
            <a:endParaRPr lang="en-US" sz="1250" dirty="0"/>
          </a:p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total reorder level is 1M, supporting timely inventory replenishment.</a:t>
            </a:r>
            <a:endParaRPr lang="en-US" sz="1250" dirty="0"/>
          </a:p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value is analyzed across 10 warehouses to compare stock distribution and warehouse performance.</a:t>
            </a:r>
            <a:endParaRPr lang="en-US" sz="1250" dirty="0"/>
          </a:p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are classified into Active, Dead Stock, and Slow-Moving categories using Days Since Last Sale and Stock Quantity.</a:t>
            </a:r>
            <a:endParaRPr lang="en-US" sz="1250" dirty="0"/>
          </a:p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performance is analyzed by warehouse, product category, region, and time, enabling better inventory planning.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457200" y="5573919"/>
            <a:ext cx="82296" cy="173736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28" name="Text 25"/>
          <p:cNvSpPr/>
          <p:nvPr/>
        </p:nvSpPr>
        <p:spPr>
          <a:xfrm>
            <a:off x="640080" y="5546487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DAX MEASURES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457200" y="5922698"/>
            <a:ext cx="1488643" cy="274320"/>
          </a:xfrm>
          <a:prstGeom prst="roundRect">
            <a:avLst>
              <a:gd name="adj" fmla="val 50000"/>
            </a:avLst>
          </a:prstGeom>
          <a:solidFill>
            <a:srgbClr val="E8EFFB"/>
          </a:solidFill>
          <a:ln w="9525">
            <a:solidFill>
              <a:srgbClr val="2856A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2920" y="5922698"/>
            <a:ext cx="1397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Turnover Ratio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028139" y="5922698"/>
            <a:ext cx="863194" cy="274320"/>
          </a:xfrm>
          <a:prstGeom prst="roundRect">
            <a:avLst>
              <a:gd name="adj" fmla="val 50000"/>
            </a:avLst>
          </a:prstGeom>
          <a:solidFill>
            <a:srgbClr val="E8EFFB"/>
          </a:solidFill>
          <a:ln w="9525">
            <a:solidFill>
              <a:srgbClr val="2856A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073859" y="5922698"/>
            <a:ext cx="7717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Status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2973629" y="5922698"/>
            <a:ext cx="863194" cy="274320"/>
          </a:xfrm>
          <a:prstGeom prst="roundRect">
            <a:avLst>
              <a:gd name="adj" fmla="val 50000"/>
            </a:avLst>
          </a:prstGeom>
          <a:solidFill>
            <a:srgbClr val="E8EFFB"/>
          </a:solidFill>
          <a:ln w="9525">
            <a:solidFill>
              <a:srgbClr val="2856A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019349" y="5922698"/>
            <a:ext cx="7717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Flag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3919118" y="5922698"/>
            <a:ext cx="1228039" cy="274320"/>
          </a:xfrm>
          <a:prstGeom prst="roundRect">
            <a:avLst>
              <a:gd name="adj" fmla="val 50000"/>
            </a:avLst>
          </a:prstGeom>
          <a:solidFill>
            <a:srgbClr val="E8EFFB"/>
          </a:solidFill>
          <a:ln w="9525">
            <a:solidFill>
              <a:srgbClr val="2856A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964838" y="5922698"/>
            <a:ext cx="11365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Stock Quantity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5229454" y="592269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E8EFFB"/>
          </a:solidFill>
          <a:ln w="9525">
            <a:solidFill>
              <a:srgbClr val="2856A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275174" y="592269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Moving Quantity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7223760" y="2378756"/>
            <a:ext cx="4728754" cy="3818262"/>
          </a:xfrm>
          <a:prstGeom prst="roundRect">
            <a:avLst>
              <a:gd name="adj" fmla="val 1420"/>
            </a:avLst>
          </a:prstGeom>
          <a:solidFill>
            <a:srgbClr val="FFFFFF"/>
          </a:solidFill>
          <a:ln w="15875">
            <a:solidFill>
              <a:srgbClr val="D7E1F0"/>
            </a:solidFill>
            <a:prstDash val="solid"/>
          </a:ln>
          <a:effectLst>
            <a:outerShdw blurRad="114300" dist="25400" dir="5400000" algn="bl" rotWithShape="0">
              <a:srgbClr val="1B2A41">
                <a:alpha val="16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236822" y="1576170"/>
            <a:ext cx="4715691" cy="45720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42" name="Shape 38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D7E1F0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457200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44" name="Text 40"/>
          <p:cNvSpPr/>
          <p:nvPr/>
        </p:nvSpPr>
        <p:spPr>
          <a:xfrm>
            <a:off x="4114800" y="6492240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Analytics</a:t>
            </a:r>
            <a:endParaRPr lang="en-US" sz="850" dirty="0"/>
          </a:p>
        </p:txBody>
      </p:sp>
      <p:sp>
        <p:nvSpPr>
          <p:cNvPr id="45" name="Text 41"/>
          <p:cNvSpPr/>
          <p:nvPr/>
        </p:nvSpPr>
        <p:spPr>
          <a:xfrm>
            <a:off x="11274552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 smtClean="0">
                <a:solidFill>
                  <a:srgbClr val="285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dirty="0"/>
          </a:p>
        </p:txBody>
      </p:sp>
      <p:pic>
        <p:nvPicPr>
          <p:cNvPr id="46" name="Picture 45" descr="Inventory Analytics P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1688796"/>
            <a:ext cx="4728754" cy="4478187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xmlns="" id="{880E8F07-2DA9-6E3D-AB1B-D15455B42F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7200" y="37299"/>
            <a:ext cx="1478978" cy="7503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F2A52"/>
          </a:solidFill>
          <a:ln/>
          <a:effectLst>
            <a:outerShdw blurRad="63500" dist="25400" dir="5400000" algn="bl" rotWithShape="0">
              <a:srgbClr val="0F2A52">
                <a:alpha val="28000"/>
              </a:srgbClr>
            </a:outerShdw>
          </a:effectLst>
        </p:spPr>
      </p:sp>
      <p:pic>
        <p:nvPicPr>
          <p:cNvPr id="3" name="Image 0" descr="/home/claude/work/icons/tru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2120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0432" y="55778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Performance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566928" cy="32004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254033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0F2A52"/>
          </a:solidFill>
          <a:ln/>
          <a:effectLst>
            <a:outerShdw blurRad="76200" dist="25400" dir="5400000" algn="bl" rotWithShape="0">
              <a:srgbClr val="0B1E3A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254033"/>
            <a:ext cx="1371600" cy="41148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9" name="Text 6"/>
          <p:cNvSpPr/>
          <p:nvPr/>
        </p:nvSpPr>
        <p:spPr>
          <a:xfrm>
            <a:off x="530352" y="1382049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17.12%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30352" y="1747809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9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 Rate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011680" y="1254033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0F2A52"/>
          </a:solidFill>
          <a:ln/>
          <a:effectLst>
            <a:outerShdw blurRad="76200" dist="25400" dir="5400000" algn="bl" rotWithShape="0">
              <a:srgbClr val="0B1E3A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011680" y="1254033"/>
            <a:ext cx="1371600" cy="41148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13" name="Text 10"/>
          <p:cNvSpPr/>
          <p:nvPr/>
        </p:nvSpPr>
        <p:spPr>
          <a:xfrm>
            <a:off x="2084832" y="1382049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51.22%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084832" y="1747809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9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Rate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566160" y="1254033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0F2A52"/>
          </a:solidFill>
          <a:ln/>
          <a:effectLst>
            <a:outerShdw blurRad="76200" dist="25400" dir="5400000" algn="bl" rotWithShape="0">
              <a:srgbClr val="0B1E3A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566160" y="1254033"/>
            <a:ext cx="1371600" cy="41148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17" name="Text 14"/>
          <p:cNvSpPr/>
          <p:nvPr/>
        </p:nvSpPr>
        <p:spPr>
          <a:xfrm>
            <a:off x="3639312" y="1382049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 smtClean="0">
                <a:solidFill>
                  <a:srgbClr val="C9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7104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3639312" y="1747809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9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Analyzed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120640" y="1254033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0F2A52"/>
          </a:solidFill>
          <a:ln/>
          <a:effectLst>
            <a:outerShdw blurRad="76200" dist="25400" dir="5400000" algn="bl" rotWithShape="0">
              <a:srgbClr val="0B1E3A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120640" y="1254033"/>
            <a:ext cx="1371600" cy="41148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21" name="Text 18"/>
          <p:cNvSpPr/>
          <p:nvPr/>
        </p:nvSpPr>
        <p:spPr>
          <a:xfrm>
            <a:off x="5193792" y="1382049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27.63%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5193792" y="1747809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9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Shipping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2218070"/>
            <a:ext cx="6492240" cy="3203015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D7E1F0"/>
            </a:solidFill>
            <a:prstDash val="solid"/>
          </a:ln>
          <a:effectLst>
            <a:outerShdw blurRad="88900" dist="254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94944" y="2333023"/>
            <a:ext cx="82296" cy="173736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25" name="Text 22"/>
          <p:cNvSpPr/>
          <p:nvPr/>
        </p:nvSpPr>
        <p:spPr>
          <a:xfrm>
            <a:off x="877824" y="2305591"/>
            <a:ext cx="5833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694944" y="2544640"/>
            <a:ext cx="6016752" cy="2459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shows an On-Time Delivery Rate of 17.12% and a Late Delivery Rate of 51.22%.</a:t>
            </a:r>
            <a:endParaRPr lang="en-US" sz="1250" dirty="0"/>
          </a:p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total of </a:t>
            </a:r>
            <a:r>
              <a:rPr lang="en-US" sz="1250" dirty="0" smtClean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7104 </a:t>
            </a:r>
            <a:r>
              <a:rPr lang="en-US" sz="125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were analyzed, with 27.63% Advance Shipping.</a:t>
            </a:r>
            <a:endParaRPr lang="en-US" sz="1250" dirty="0"/>
          </a:p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Risk is monitored using a gauge chart, helping identify the percentage of high-risk orders.</a:t>
            </a:r>
            <a:endParaRPr lang="en-US" sz="1250" dirty="0"/>
          </a:p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performance is compared across different shipping modes using actual and scheduled shipping days.</a:t>
            </a:r>
            <a:endParaRPr lang="en-US" sz="1250" dirty="0"/>
          </a:p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analysis highlights the Late Delivery % across different order regions to identify areas with frequent delays.</a:t>
            </a:r>
            <a:endParaRPr lang="en-US" sz="1250" dirty="0"/>
          </a:p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trends over time help monitor overall shipping performance and support operational improvements.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457200" y="5495541"/>
            <a:ext cx="82296" cy="173736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28" name="Text 25"/>
          <p:cNvSpPr/>
          <p:nvPr/>
        </p:nvSpPr>
        <p:spPr>
          <a:xfrm>
            <a:off x="640080" y="5468109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DAX MEASURES</a:t>
            </a:r>
            <a:endParaRPr lang="en-US" dirty="0"/>
          </a:p>
        </p:txBody>
      </p:sp>
      <p:sp>
        <p:nvSpPr>
          <p:cNvPr id="29" name="Shape 26"/>
          <p:cNvSpPr/>
          <p:nvPr/>
        </p:nvSpPr>
        <p:spPr>
          <a:xfrm>
            <a:off x="457200" y="5818194"/>
            <a:ext cx="1175918" cy="274320"/>
          </a:xfrm>
          <a:prstGeom prst="roundRect">
            <a:avLst>
              <a:gd name="adj" fmla="val 50000"/>
            </a:avLst>
          </a:prstGeom>
          <a:solidFill>
            <a:srgbClr val="E8EFFB"/>
          </a:solidFill>
          <a:ln w="9525">
            <a:solidFill>
              <a:srgbClr val="2856A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2920" y="5818194"/>
            <a:ext cx="10844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 %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1715414" y="5818194"/>
            <a:ext cx="1019556" cy="274320"/>
          </a:xfrm>
          <a:prstGeom prst="roundRect">
            <a:avLst>
              <a:gd name="adj" fmla="val 50000"/>
            </a:avLst>
          </a:prstGeom>
          <a:solidFill>
            <a:srgbClr val="E8EFFB"/>
          </a:solidFill>
          <a:ln w="9525">
            <a:solidFill>
              <a:srgbClr val="2856A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761134" y="5818194"/>
            <a:ext cx="928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%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2817266" y="5818194"/>
            <a:ext cx="1175918" cy="274320"/>
          </a:xfrm>
          <a:prstGeom prst="roundRect">
            <a:avLst>
              <a:gd name="adj" fmla="val 50000"/>
            </a:avLst>
          </a:prstGeom>
          <a:solidFill>
            <a:srgbClr val="E8EFFB"/>
          </a:solidFill>
          <a:ln w="9525">
            <a:solidFill>
              <a:srgbClr val="2856A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862986" y="5818194"/>
            <a:ext cx="10844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Variance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075481" y="5818194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E8EFFB"/>
          </a:solidFill>
          <a:ln w="9525">
            <a:solidFill>
              <a:srgbClr val="2856A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121201" y="581819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Risk %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5437937" y="5818194"/>
            <a:ext cx="1071677" cy="274320"/>
          </a:xfrm>
          <a:prstGeom prst="roundRect">
            <a:avLst>
              <a:gd name="adj" fmla="val 50000"/>
            </a:avLst>
          </a:prstGeom>
          <a:solidFill>
            <a:srgbClr val="E8EFFB"/>
          </a:solidFill>
          <a:ln w="9525">
            <a:solidFill>
              <a:srgbClr val="2856A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483657" y="5818194"/>
            <a:ext cx="9802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 Rate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7223759" y="2140332"/>
            <a:ext cx="4968241" cy="4012272"/>
          </a:xfrm>
          <a:prstGeom prst="roundRect">
            <a:avLst>
              <a:gd name="adj" fmla="val 1420"/>
            </a:avLst>
          </a:prstGeom>
          <a:solidFill>
            <a:srgbClr val="FFFFFF"/>
          </a:solidFill>
          <a:ln w="15875">
            <a:solidFill>
              <a:srgbClr val="D7E1F0"/>
            </a:solidFill>
            <a:prstDash val="solid"/>
          </a:ln>
          <a:effectLst>
            <a:outerShdw blurRad="114300" dist="25400" dir="5400000" algn="bl" rotWithShape="0">
              <a:srgbClr val="1B2A41">
                <a:alpha val="16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223759" y="1456370"/>
            <a:ext cx="4968241" cy="52431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42" name="Shape 38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D7E1F0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457200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44" name="Text 40"/>
          <p:cNvSpPr/>
          <p:nvPr/>
        </p:nvSpPr>
        <p:spPr>
          <a:xfrm>
            <a:off x="4114800" y="6492240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Performance</a:t>
            </a:r>
            <a:endParaRPr lang="en-US" sz="850" dirty="0"/>
          </a:p>
        </p:txBody>
      </p:sp>
      <p:sp>
        <p:nvSpPr>
          <p:cNvPr id="45" name="Text 41"/>
          <p:cNvSpPr/>
          <p:nvPr/>
        </p:nvSpPr>
        <p:spPr>
          <a:xfrm>
            <a:off x="11274552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 smtClean="0">
                <a:solidFill>
                  <a:srgbClr val="285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50" dirty="0"/>
          </a:p>
        </p:txBody>
      </p:sp>
      <p:pic>
        <p:nvPicPr>
          <p:cNvPr id="46" name="Picture 45" descr="Delivery Analytics P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59" y="1509912"/>
            <a:ext cx="4922608" cy="4582602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xmlns="" id="{880E8F07-2DA9-6E3D-AB1B-D15455B42F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7200" y="37299"/>
            <a:ext cx="1478978" cy="7503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F2A52"/>
          </a:solidFill>
          <a:ln/>
          <a:effectLst>
            <a:outerShdw blurRad="63500" dist="25400" dir="5400000" algn="bl" rotWithShape="0">
              <a:srgbClr val="0F2A52">
                <a:alpha val="28000"/>
              </a:srgbClr>
            </a:outerShdw>
          </a:effectLst>
        </p:spPr>
      </p:sp>
      <p:pic>
        <p:nvPicPr>
          <p:cNvPr id="3" name="Image 0" descr="/home/claude/work/icons/handsh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2120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0432" y="5670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Supplier Performance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566928" cy="32004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214844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0F2A52"/>
          </a:solidFill>
          <a:ln/>
          <a:effectLst>
            <a:outerShdw blurRad="76200" dist="25400" dir="5400000" algn="bl" rotWithShape="0">
              <a:srgbClr val="0B1E3A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214844"/>
            <a:ext cx="1371600" cy="41148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9" name="Text 6"/>
          <p:cNvSpPr/>
          <p:nvPr/>
        </p:nvSpPr>
        <p:spPr>
          <a:xfrm>
            <a:off x="530352" y="1342860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118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30352" y="170862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011680" y="1214844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0F2A52"/>
          </a:solidFill>
          <a:ln/>
          <a:effectLst>
            <a:outerShdw blurRad="76200" dist="25400" dir="5400000" algn="bl" rotWithShape="0">
              <a:srgbClr val="0B1E3A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011680" y="1214844"/>
            <a:ext cx="1371600" cy="41148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13" name="Text 10"/>
          <p:cNvSpPr/>
          <p:nvPr/>
        </p:nvSpPr>
        <p:spPr>
          <a:xfrm>
            <a:off x="2084832" y="1342860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75.71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084832" y="170862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Quality Score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566160" y="1214844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0F2A52"/>
          </a:solidFill>
          <a:ln/>
          <a:effectLst>
            <a:outerShdw blurRad="76200" dist="25400" dir="5400000" algn="bl" rotWithShape="0">
              <a:srgbClr val="0B1E3A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566160" y="1214844"/>
            <a:ext cx="1371600" cy="41148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17" name="Text 14"/>
          <p:cNvSpPr/>
          <p:nvPr/>
        </p:nvSpPr>
        <p:spPr>
          <a:xfrm>
            <a:off x="3639312" y="1342860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53.90%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3639312" y="170862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Reliability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120640" y="1214844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0F2A52"/>
          </a:solidFill>
          <a:ln/>
          <a:effectLst>
            <a:outerShdw blurRad="76200" dist="25400" dir="5400000" algn="bl" rotWithShape="0">
              <a:srgbClr val="0B1E3A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120640" y="1214844"/>
            <a:ext cx="1371600" cy="41148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21" name="Text 18"/>
          <p:cNvSpPr/>
          <p:nvPr/>
        </p:nvSpPr>
        <p:spPr>
          <a:xfrm>
            <a:off x="5193792" y="1342860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days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5193792" y="170862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Lead Time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57200" y="2139693"/>
            <a:ext cx="649224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D7E1F0"/>
            </a:solidFill>
            <a:prstDash val="solid"/>
          </a:ln>
          <a:effectLst>
            <a:outerShdw blurRad="88900" dist="254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94944" y="2241582"/>
            <a:ext cx="82296" cy="173736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25" name="Text 22"/>
          <p:cNvSpPr/>
          <p:nvPr/>
        </p:nvSpPr>
        <p:spPr>
          <a:xfrm>
            <a:off x="877824" y="2214150"/>
            <a:ext cx="5833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694944" y="2505451"/>
            <a:ext cx="6016752" cy="2459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evaluates supplier performance using Quality Score, Reliability %, and Lead Time.</a:t>
            </a:r>
            <a:endParaRPr lang="en-US" sz="1200" dirty="0"/>
          </a:p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contains 118 suppliers with an Average Quality Score of 75.71 and an Average Reliability of 53.90%.</a:t>
            </a:r>
            <a:endParaRPr lang="en-US" sz="1200" dirty="0"/>
          </a:p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Lead Time across all suppliers is 17 days, helping measure supplier responsiveness.</a:t>
            </a:r>
            <a:endParaRPr lang="en-US" sz="1200" dirty="0"/>
          </a:p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 are classified into Low, Medium, and High Reliability Tiers, making it easier to identify reliable suppliers.</a:t>
            </a:r>
            <a:endParaRPr lang="en-US" sz="1200" dirty="0"/>
          </a:p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Supplier Composite Score is calculated to rank and benchmark suppliers based on overall performance.</a:t>
            </a:r>
            <a:endParaRPr lang="en-US" sz="1200" dirty="0"/>
          </a:p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scatter plot analyzes the relationship between Lead Time, Reliability, and Quality Score, supporting supplier performance evaluation.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57200" y="5521667"/>
            <a:ext cx="82296" cy="173736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28" name="Text 25"/>
          <p:cNvSpPr/>
          <p:nvPr/>
        </p:nvSpPr>
        <p:spPr>
          <a:xfrm>
            <a:off x="640080" y="5494235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DAX MEASURES</a:t>
            </a:r>
            <a:endParaRPr lang="en-US" dirty="0"/>
          </a:p>
        </p:txBody>
      </p:sp>
      <p:sp>
        <p:nvSpPr>
          <p:cNvPr id="29" name="Shape 26"/>
          <p:cNvSpPr/>
          <p:nvPr/>
        </p:nvSpPr>
        <p:spPr>
          <a:xfrm>
            <a:off x="457200" y="5870446"/>
            <a:ext cx="1488643" cy="274320"/>
          </a:xfrm>
          <a:prstGeom prst="roundRect">
            <a:avLst>
              <a:gd name="adj" fmla="val 50000"/>
            </a:avLst>
          </a:prstGeom>
          <a:solidFill>
            <a:srgbClr val="E8EFFB"/>
          </a:solidFill>
          <a:ln w="9525">
            <a:solidFill>
              <a:srgbClr val="2856A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2920" y="5870446"/>
            <a:ext cx="1397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Composite Score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2028139" y="5870446"/>
            <a:ext cx="915314" cy="274320"/>
          </a:xfrm>
          <a:prstGeom prst="roundRect">
            <a:avLst>
              <a:gd name="adj" fmla="val 50000"/>
            </a:avLst>
          </a:prstGeom>
          <a:solidFill>
            <a:srgbClr val="E8EFFB"/>
          </a:solidFill>
          <a:ln w="9525">
            <a:solidFill>
              <a:srgbClr val="2856A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073859" y="5870446"/>
            <a:ext cx="8238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Rank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3025750" y="5870446"/>
            <a:ext cx="1071677" cy="274320"/>
          </a:xfrm>
          <a:prstGeom prst="roundRect">
            <a:avLst>
              <a:gd name="adj" fmla="val 50000"/>
            </a:avLst>
          </a:prstGeom>
          <a:solidFill>
            <a:srgbClr val="E8EFFB"/>
          </a:solidFill>
          <a:ln w="9525">
            <a:solidFill>
              <a:srgbClr val="2856A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071470" y="5870446"/>
            <a:ext cx="9802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Tier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179722" y="5870446"/>
            <a:ext cx="1123798" cy="274320"/>
          </a:xfrm>
          <a:prstGeom prst="roundRect">
            <a:avLst>
              <a:gd name="adj" fmla="val 50000"/>
            </a:avLst>
          </a:prstGeom>
          <a:solidFill>
            <a:srgbClr val="E8EFFB"/>
          </a:solidFill>
          <a:ln w="9525">
            <a:solidFill>
              <a:srgbClr val="2856A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225442" y="5870446"/>
            <a:ext cx="1032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Quality Score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5385816" y="5870446"/>
            <a:ext cx="1123798" cy="274320"/>
          </a:xfrm>
          <a:prstGeom prst="roundRect">
            <a:avLst>
              <a:gd name="adj" fmla="val 50000"/>
            </a:avLst>
          </a:prstGeom>
          <a:solidFill>
            <a:srgbClr val="E8EFFB"/>
          </a:solidFill>
          <a:ln w="9525">
            <a:solidFill>
              <a:srgbClr val="2856A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431536" y="5870446"/>
            <a:ext cx="10323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Reliability %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7223759" y="2128936"/>
            <a:ext cx="4715691" cy="4180423"/>
          </a:xfrm>
          <a:prstGeom prst="roundRect">
            <a:avLst>
              <a:gd name="adj" fmla="val 1420"/>
            </a:avLst>
          </a:prstGeom>
          <a:solidFill>
            <a:srgbClr val="FFFFFF"/>
          </a:solidFill>
          <a:ln w="15875">
            <a:solidFill>
              <a:srgbClr val="D7E1F0"/>
            </a:solidFill>
            <a:prstDash val="solid"/>
          </a:ln>
          <a:effectLst>
            <a:outerShdw blurRad="114300" dist="25400" dir="5400000" algn="bl" rotWithShape="0">
              <a:srgbClr val="1B2A41">
                <a:alpha val="16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223759" y="1461785"/>
            <a:ext cx="4715691" cy="52322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42" name="Shape 38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D7E1F0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457200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44" name="Text 40"/>
          <p:cNvSpPr/>
          <p:nvPr/>
        </p:nvSpPr>
        <p:spPr>
          <a:xfrm>
            <a:off x="4114800" y="6492240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Performance</a:t>
            </a:r>
            <a:endParaRPr lang="en-US" sz="850" dirty="0"/>
          </a:p>
        </p:txBody>
      </p:sp>
      <p:sp>
        <p:nvSpPr>
          <p:cNvPr id="45" name="Text 41"/>
          <p:cNvSpPr/>
          <p:nvPr/>
        </p:nvSpPr>
        <p:spPr>
          <a:xfrm>
            <a:off x="11274552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 smtClean="0">
                <a:solidFill>
                  <a:srgbClr val="2856A3"/>
                </a:solidFill>
                <a:latin typeface="Calibri" pitchFamily="34" charset="0"/>
                <a:cs typeface="Calibri" pitchFamily="34" charset="-120"/>
              </a:rPr>
              <a:t>10</a:t>
            </a:r>
            <a:endParaRPr lang="en-US" sz="850" dirty="0"/>
          </a:p>
        </p:txBody>
      </p:sp>
      <p:pic>
        <p:nvPicPr>
          <p:cNvPr id="46" name="Picture 45" descr="Supplier Scorecard P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59" y="1537538"/>
            <a:ext cx="4715691" cy="4771821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xmlns="" id="{880E8F07-2DA9-6E3D-AB1B-D15455B42F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7200" y="37299"/>
            <a:ext cx="1478978" cy="7503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F2A52"/>
          </a:solidFill>
          <a:ln/>
          <a:effectLst>
            <a:outerShdw blurRad="63500" dist="25400" dir="5400000" algn="bl" rotWithShape="0">
              <a:srgbClr val="0F2A52">
                <a:alpha val="28000"/>
              </a:srgbClr>
            </a:outerShdw>
          </a:effectLst>
        </p:spPr>
      </p:sp>
      <p:pic>
        <p:nvPicPr>
          <p:cNvPr id="3" name="Image 0" descr="/home/claude/work/icons/wareho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2120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0432" y="55778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Warehouse Efficiency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566928" cy="32004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214844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0F2A52"/>
          </a:solidFill>
          <a:ln/>
          <a:effectLst>
            <a:outerShdw blurRad="76200" dist="25400" dir="5400000" algn="bl" rotWithShape="0">
              <a:srgbClr val="0B1E3A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214844"/>
            <a:ext cx="1371600" cy="41148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9" name="Text 6"/>
          <p:cNvSpPr/>
          <p:nvPr/>
        </p:nvSpPr>
        <p:spPr>
          <a:xfrm>
            <a:off x="530352" y="1342860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84.24%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30352" y="170862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9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Utilization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011680" y="1214844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0F2A52"/>
          </a:solidFill>
          <a:ln/>
          <a:effectLst>
            <a:outerShdw blurRad="76200" dist="25400" dir="5400000" algn="bl" rotWithShape="0">
              <a:srgbClr val="0B1E3A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011680" y="1214844"/>
            <a:ext cx="1371600" cy="41148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13" name="Text 10"/>
          <p:cNvSpPr/>
          <p:nvPr/>
        </p:nvSpPr>
        <p:spPr>
          <a:xfrm>
            <a:off x="2084832" y="1342860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15.93%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084832" y="170862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9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Utilization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566160" y="1214844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0F2A52"/>
          </a:solidFill>
          <a:ln/>
          <a:effectLst>
            <a:outerShdw blurRad="76200" dist="25400" dir="5400000" algn="bl" rotWithShape="0">
              <a:srgbClr val="0B1E3A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566160" y="1214844"/>
            <a:ext cx="1371600" cy="41148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17" name="Text 14"/>
          <p:cNvSpPr/>
          <p:nvPr/>
        </p:nvSpPr>
        <p:spPr>
          <a:xfrm>
            <a:off x="3639312" y="1342860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55.15%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3639312" y="170862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9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Utilization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120640" y="1214844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0F2A52"/>
          </a:solidFill>
          <a:ln/>
          <a:effectLst>
            <a:outerShdw blurRad="76200" dist="25400" dir="5400000" algn="bl" rotWithShape="0">
              <a:srgbClr val="0B1E3A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120640" y="1214844"/>
            <a:ext cx="1371600" cy="41148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21" name="Text 18"/>
          <p:cNvSpPr/>
          <p:nvPr/>
        </p:nvSpPr>
        <p:spPr>
          <a:xfrm>
            <a:off x="5193792" y="1342860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5193792" y="170862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9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2152756"/>
            <a:ext cx="649224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D7E1F0"/>
            </a:solidFill>
            <a:prstDash val="solid"/>
          </a:ln>
          <a:effectLst>
            <a:outerShdw blurRad="88900" dist="25400" dir="5400000" algn="bl" rotWithShape="0">
              <a:srgbClr val="1B2A41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94944" y="2254645"/>
            <a:ext cx="82296" cy="173736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25" name="Text 22"/>
          <p:cNvSpPr/>
          <p:nvPr/>
        </p:nvSpPr>
        <p:spPr>
          <a:xfrm>
            <a:off x="877824" y="2227213"/>
            <a:ext cx="5833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694944" y="2544640"/>
            <a:ext cx="6016752" cy="2459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provides an overview of warehouse performance by analyzing capacity utilization, stock movement, and operational efficiency across 10 warehouses.</a:t>
            </a:r>
            <a:endParaRPr lang="en-US" sz="1200" dirty="0"/>
          </a:p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Maximum Warehouse Utilization is 84.24%, while the Minimum Utilization is 15.93%.</a:t>
            </a:r>
            <a:endParaRPr lang="en-US" sz="1200" dirty="0"/>
          </a:p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Warehouse Utilization is 55.15%, providing an overall view of warehouse capacity usage.</a:t>
            </a:r>
            <a:endParaRPr lang="en-US" sz="1200" dirty="0"/>
          </a:p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performance is compared using Units Shipped, Total Stock, Total Sales, and Utilization Percentage.</a:t>
            </a:r>
            <a:endParaRPr lang="en-US" sz="1200" dirty="0"/>
          </a:p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scatter plot analyzes the relationship between Warehouse Capacity, Total Stock, and Utilization, helping identify capacity utilization patterns.</a:t>
            </a:r>
            <a:endParaRPr lang="en-US" sz="1200" dirty="0"/>
          </a:p>
          <a:p>
            <a:pPr marL="203200" indent="-203200" algn="just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E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slicers allow warehouse performance to be filtered by Warehouse Name, Capacity Risk Flag, and Product Category.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57200" y="5508604"/>
            <a:ext cx="82296" cy="173736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28" name="Text 25"/>
          <p:cNvSpPr/>
          <p:nvPr/>
        </p:nvSpPr>
        <p:spPr>
          <a:xfrm>
            <a:off x="640080" y="5481172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DAX MEASURES</a:t>
            </a:r>
            <a:endParaRPr lang="en-US" dirty="0"/>
          </a:p>
        </p:txBody>
      </p:sp>
      <p:sp>
        <p:nvSpPr>
          <p:cNvPr id="29" name="Shape 26"/>
          <p:cNvSpPr/>
          <p:nvPr/>
        </p:nvSpPr>
        <p:spPr>
          <a:xfrm>
            <a:off x="457200" y="5844320"/>
            <a:ext cx="1645006" cy="274320"/>
          </a:xfrm>
          <a:prstGeom prst="roundRect">
            <a:avLst>
              <a:gd name="adj" fmla="val 50000"/>
            </a:avLst>
          </a:prstGeom>
          <a:solidFill>
            <a:srgbClr val="E8EFFB"/>
          </a:solidFill>
          <a:ln w="9525">
            <a:solidFill>
              <a:srgbClr val="2856A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2920" y="5844320"/>
            <a:ext cx="15535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Warehouse Utilization %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2184502" y="5844320"/>
            <a:ext cx="1175918" cy="274320"/>
          </a:xfrm>
          <a:prstGeom prst="roundRect">
            <a:avLst>
              <a:gd name="adj" fmla="val 50000"/>
            </a:avLst>
          </a:prstGeom>
          <a:solidFill>
            <a:srgbClr val="E8EFFB"/>
          </a:solidFill>
          <a:ln w="9525">
            <a:solidFill>
              <a:srgbClr val="2856A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230222" y="5844320"/>
            <a:ext cx="10844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Risk Flag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3442716" y="5844320"/>
            <a:ext cx="1436522" cy="274320"/>
          </a:xfrm>
          <a:prstGeom prst="roundRect">
            <a:avLst>
              <a:gd name="adj" fmla="val 50000"/>
            </a:avLst>
          </a:prstGeom>
          <a:solidFill>
            <a:srgbClr val="E8EFFB"/>
          </a:solidFill>
          <a:ln w="9525">
            <a:solidFill>
              <a:srgbClr val="2856A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488436" y="5844320"/>
            <a:ext cx="13450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Utilization %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961534" y="5844320"/>
            <a:ext cx="1228039" cy="274320"/>
          </a:xfrm>
          <a:prstGeom prst="roundRect">
            <a:avLst>
              <a:gd name="adj" fmla="val 50000"/>
            </a:avLst>
          </a:prstGeom>
          <a:solidFill>
            <a:srgbClr val="E8EFFB"/>
          </a:solidFill>
          <a:ln w="9525">
            <a:solidFill>
              <a:srgbClr val="2856A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007254" y="5844320"/>
            <a:ext cx="11365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Units Shipped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6271870" y="5844320"/>
            <a:ext cx="863194" cy="274320"/>
          </a:xfrm>
          <a:prstGeom prst="roundRect">
            <a:avLst>
              <a:gd name="adj" fmla="val 50000"/>
            </a:avLst>
          </a:prstGeom>
          <a:solidFill>
            <a:srgbClr val="E8EFFB"/>
          </a:solidFill>
          <a:ln w="9525">
            <a:solidFill>
              <a:srgbClr val="2856A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17590" y="5844320"/>
            <a:ext cx="7717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Capacity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7223760" y="2142608"/>
            <a:ext cx="4968240" cy="4166752"/>
          </a:xfrm>
          <a:prstGeom prst="roundRect">
            <a:avLst>
              <a:gd name="adj" fmla="val 1420"/>
            </a:avLst>
          </a:prstGeom>
          <a:solidFill>
            <a:srgbClr val="FFFFFF"/>
          </a:solidFill>
          <a:ln w="15875">
            <a:solidFill>
              <a:srgbClr val="D7E1F0"/>
            </a:solidFill>
            <a:prstDash val="solid"/>
          </a:ln>
          <a:effectLst>
            <a:outerShdw blurRad="114300" dist="25400" dir="5400000" algn="bl" rotWithShape="0">
              <a:srgbClr val="1B2A41">
                <a:alpha val="16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223760" y="1474848"/>
            <a:ext cx="4968240" cy="52326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42" name="Shape 38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D7E1F0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457200" y="65014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44" name="Text 40"/>
          <p:cNvSpPr/>
          <p:nvPr/>
        </p:nvSpPr>
        <p:spPr>
          <a:xfrm>
            <a:off x="4114800" y="6492240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Efficiency</a:t>
            </a:r>
            <a:endParaRPr lang="en-US" sz="850" dirty="0"/>
          </a:p>
        </p:txBody>
      </p:sp>
      <p:sp>
        <p:nvSpPr>
          <p:cNvPr id="45" name="Text 41"/>
          <p:cNvSpPr/>
          <p:nvPr/>
        </p:nvSpPr>
        <p:spPr>
          <a:xfrm>
            <a:off x="11274552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 smtClean="0">
                <a:solidFill>
                  <a:srgbClr val="285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pic>
        <p:nvPicPr>
          <p:cNvPr id="46" name="Picture 45" descr="Warehouse Efficiency P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1540454"/>
            <a:ext cx="4968240" cy="4768906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xmlns="" id="{880E8F07-2DA9-6E3D-AB1B-D15455B42F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7200" y="37299"/>
            <a:ext cx="1478978" cy="7503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5"/>
          <p:cNvSpPr/>
          <p:nvPr/>
        </p:nvSpPr>
        <p:spPr>
          <a:xfrm>
            <a:off x="6357319" y="1185497"/>
            <a:ext cx="5638927" cy="4653163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15875">
            <a:solidFill>
              <a:srgbClr val="D7E1F0"/>
            </a:solidFill>
            <a:prstDash val="solid"/>
          </a:ln>
          <a:effectLst>
            <a:outerShdw blurRad="114300" dist="25400" dir="5400000" algn="bl" rotWithShape="0">
              <a:srgbClr val="1B2A41">
                <a:alpha val="16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F2A52"/>
          </a:solidFill>
          <a:ln/>
          <a:effectLst>
            <a:outerShdw blurRad="63500" dist="25400" dir="5400000" algn="bl" rotWithShape="0">
              <a:srgbClr val="0F2A52">
                <a:alpha val="28000"/>
              </a:srgbClr>
            </a:outerShdw>
          </a:effectLst>
        </p:spPr>
      </p:sp>
      <p:pic>
        <p:nvPicPr>
          <p:cNvPr id="3" name="Image 0" descr="/home/claude/work/icons/la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2120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0432" y="54854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 smtClean="0">
                <a:solidFill>
                  <a:srgbClr val="0F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</a:t>
            </a:r>
            <a:r>
              <a:rPr lang="en-US" sz="2700" b="1" dirty="0" smtClean="0">
                <a:solidFill>
                  <a:srgbClr val="0F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700" b="1" dirty="0" smtClean="0">
                <a:solidFill>
                  <a:srgbClr val="0F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 </a:t>
            </a:r>
            <a:r>
              <a:rPr lang="en-US" sz="2700" b="1" dirty="0" smtClean="0">
                <a:solidFill>
                  <a:srgbClr val="0F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700" b="1" dirty="0" smtClean="0">
                <a:solidFill>
                  <a:srgbClr val="0F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 Key </a:t>
            </a:r>
            <a:r>
              <a:rPr lang="en-US" sz="2700" b="1" dirty="0" smtClean="0">
                <a:solidFill>
                  <a:srgbClr val="0F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</a:t>
            </a:r>
            <a:r>
              <a:rPr lang="en-US" sz="2700" b="1" dirty="0" smtClean="0">
                <a:solidFill>
                  <a:srgbClr val="0F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005839"/>
            <a:ext cx="566928" cy="32004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8" name="Shape 5"/>
          <p:cNvSpPr/>
          <p:nvPr/>
        </p:nvSpPr>
        <p:spPr>
          <a:xfrm>
            <a:off x="143688" y="1189853"/>
            <a:ext cx="5590906" cy="4653163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15875">
            <a:solidFill>
              <a:srgbClr val="D7E1F0"/>
            </a:solidFill>
            <a:prstDash val="solid"/>
          </a:ln>
          <a:effectLst>
            <a:outerShdw blurRad="114300" dist="25400" dir="5400000" algn="bl" rotWithShape="0">
              <a:srgbClr val="1B2A41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 flipV="1">
            <a:off x="156754" y="1154382"/>
            <a:ext cx="5534592" cy="45719"/>
          </a:xfrm>
          <a:prstGeom prst="rect">
            <a:avLst/>
          </a:prstGeom>
          <a:solidFill>
            <a:srgbClr val="0F2A52"/>
          </a:solidFill>
          <a:ln/>
        </p:spPr>
      </p:sp>
      <p:sp>
        <p:nvSpPr>
          <p:cNvPr id="11" name="Shape 7"/>
          <p:cNvSpPr/>
          <p:nvPr/>
        </p:nvSpPr>
        <p:spPr>
          <a:xfrm>
            <a:off x="585215" y="5943600"/>
            <a:ext cx="347472" cy="397790"/>
          </a:xfrm>
          <a:prstGeom prst="ellipse">
            <a:avLst/>
          </a:prstGeom>
          <a:solidFill>
            <a:srgbClr val="0F2A52"/>
          </a:solidFill>
          <a:ln/>
        </p:spPr>
      </p:sp>
      <p:pic>
        <p:nvPicPr>
          <p:cNvPr id="12" name="Image 2" descr="/home/claude/work/icons/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3" y="6049001"/>
            <a:ext cx="228381" cy="22838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7191" y="5859111"/>
            <a:ext cx="3561943" cy="482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Overview</a:t>
            </a:r>
            <a:endParaRPr lang="en-US" sz="1600" dirty="0"/>
          </a:p>
        </p:txBody>
      </p:sp>
      <p:sp>
        <p:nvSpPr>
          <p:cNvPr id="29" name="Shape 19"/>
          <p:cNvSpPr/>
          <p:nvPr/>
        </p:nvSpPr>
        <p:spPr>
          <a:xfrm>
            <a:off x="6535060" y="5943600"/>
            <a:ext cx="328614" cy="329184"/>
          </a:xfrm>
          <a:prstGeom prst="ellipse">
            <a:avLst/>
          </a:prstGeom>
          <a:solidFill>
            <a:srgbClr val="2856A3"/>
          </a:solidFill>
          <a:ln/>
        </p:spPr>
      </p:sp>
      <p:pic>
        <p:nvPicPr>
          <p:cNvPr id="30" name="Image 8" descr="/home/claude/work/icons/handshak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9067" y="5998463"/>
            <a:ext cx="210313" cy="210313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6920221" y="5933893"/>
            <a:ext cx="2996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52"/>
                </a:solidFill>
                <a:latin typeface="Calibri" pitchFamily="34" charset="0"/>
                <a:cs typeface="Calibri" pitchFamily="34" charset="-120"/>
              </a:rPr>
              <a:t>Key </a:t>
            </a:r>
            <a:r>
              <a:rPr lang="en-US" sz="1600" b="1" dirty="0" smtClean="0">
                <a:solidFill>
                  <a:srgbClr val="0F2A52"/>
                </a:solidFill>
                <a:latin typeface="Calibri" pitchFamily="34" charset="0"/>
                <a:cs typeface="Calibri" pitchFamily="34" charset="-120"/>
              </a:rPr>
              <a:t>Feature</a:t>
            </a:r>
            <a:r>
              <a:rPr lang="en-US" sz="1600" b="1" dirty="0" smtClean="0">
                <a:solidFill>
                  <a:srgbClr val="0F2A52"/>
                </a:solidFill>
                <a:latin typeface="Calibri" pitchFamily="34" charset="0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44" name="Shape 29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D7E1F0"/>
            </a:solidFill>
            <a:prstDash val="solid"/>
          </a:ln>
        </p:spPr>
      </p:sp>
      <p:sp>
        <p:nvSpPr>
          <p:cNvPr id="45" name="Text 30"/>
          <p:cNvSpPr/>
          <p:nvPr/>
        </p:nvSpPr>
        <p:spPr>
          <a:xfrm>
            <a:off x="457200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46" name="Text 31"/>
          <p:cNvSpPr/>
          <p:nvPr/>
        </p:nvSpPr>
        <p:spPr>
          <a:xfrm>
            <a:off x="4114800" y="6483004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 And </a:t>
            </a: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</a:t>
            </a:r>
            <a:r>
              <a:rPr lang="en-US" sz="85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50" dirty="0">
              <a:solidFill>
                <a:srgbClr val="5B6B8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7" name="Text 32"/>
          <p:cNvSpPr/>
          <p:nvPr/>
        </p:nvSpPr>
        <p:spPr>
          <a:xfrm>
            <a:off x="11274552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 smtClean="0">
                <a:solidFill>
                  <a:srgbClr val="285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49" name="Shape 6"/>
          <p:cNvSpPr/>
          <p:nvPr/>
        </p:nvSpPr>
        <p:spPr>
          <a:xfrm flipV="1">
            <a:off x="6370386" y="1150027"/>
            <a:ext cx="5582129" cy="45719"/>
          </a:xfrm>
          <a:prstGeom prst="rect">
            <a:avLst/>
          </a:prstGeom>
          <a:solidFill>
            <a:srgbClr val="0F2A52"/>
          </a:solidFill>
          <a:ln/>
        </p:spPr>
      </p:sp>
      <p:pic>
        <p:nvPicPr>
          <p:cNvPr id="24" name="Picture 23" descr="Final.png"/>
          <p:cNvPicPr>
            <a:picLocks noChangeAspect="1"/>
          </p:cNvPicPr>
          <p:nvPr/>
        </p:nvPicPr>
        <p:blipFill>
          <a:blip r:embed="rId6"/>
          <a:srcRect l="1993"/>
          <a:stretch>
            <a:fillRect/>
          </a:stretch>
        </p:blipFill>
        <p:spPr>
          <a:xfrm>
            <a:off x="313802" y="1262727"/>
            <a:ext cx="5250678" cy="453237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xmlns="" id="{880E8F07-2DA9-6E3D-AB1B-D15455B42F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17200" y="37299"/>
            <a:ext cx="1478978" cy="75039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537960" y="1298448"/>
            <a:ext cx="5074920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>
                <a:solidFill>
                  <a:srgbClr val="122F50"/>
                </a:solidFill>
                <a:latin typeface="Georgia"/>
              </a:rPr>
              <a:t>KEY FEATURES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46520" y="1664208"/>
            <a:ext cx="5285232" cy="566928"/>
          </a:xfrm>
          <a:prstGeom prst="roundRect">
            <a:avLst/>
          </a:prstGeom>
          <a:solidFill>
            <a:srgbClr val="F7F9FA"/>
          </a:solidFill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6" name="TextBox 25"/>
          <p:cNvSpPr txBox="1"/>
          <p:nvPr/>
        </p:nvSpPr>
        <p:spPr>
          <a:xfrm>
            <a:off x="6601968" y="1755648"/>
            <a:ext cx="1737359" cy="4555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122F50"/>
                </a:solidFill>
                <a:latin typeface="Aptos"/>
              </a:rPr>
              <a:t>Interactive Filters &amp; Slicers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2523" y="1737360"/>
            <a:ext cx="3154680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>
                <a:solidFill>
                  <a:srgbClr val="263443"/>
                </a:solidFill>
                <a:latin typeface="Aptos"/>
              </a:rPr>
              <a:t>Filter by date, region, supplier and product category.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46520" y="2340864"/>
            <a:ext cx="5285232" cy="566928"/>
          </a:xfrm>
          <a:prstGeom prst="roundRect">
            <a:avLst/>
          </a:prstGeom>
          <a:solidFill>
            <a:srgbClr val="F7F9FA"/>
          </a:solidFill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2" name="TextBox 31"/>
          <p:cNvSpPr txBox="1"/>
          <p:nvPr/>
        </p:nvSpPr>
        <p:spPr>
          <a:xfrm>
            <a:off x="6601968" y="2432304"/>
            <a:ext cx="1737360" cy="4555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122F50"/>
                </a:solidFill>
                <a:latin typeface="Aptos"/>
              </a:rPr>
              <a:t>Drill-Down &amp; Cross-Highlighting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57037" y="2414016"/>
            <a:ext cx="3154680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>
                <a:solidFill>
                  <a:srgbClr val="263443"/>
                </a:solidFill>
                <a:latin typeface="Aptos"/>
              </a:rPr>
              <a:t>Move from summary visuals to detailed analysis.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46520" y="3017520"/>
            <a:ext cx="5285232" cy="566928"/>
          </a:xfrm>
          <a:prstGeom prst="roundRect">
            <a:avLst/>
          </a:prstGeom>
          <a:solidFill>
            <a:srgbClr val="F7F9FA"/>
          </a:solidFill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5" name="TextBox 34"/>
          <p:cNvSpPr txBox="1"/>
          <p:nvPr/>
        </p:nvSpPr>
        <p:spPr>
          <a:xfrm>
            <a:off x="6601968" y="3108960"/>
            <a:ext cx="1737360" cy="2554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122F50"/>
                </a:solidFill>
                <a:latin typeface="Aptos"/>
              </a:rPr>
              <a:t>KPI Cards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57037" y="3090672"/>
            <a:ext cx="3154680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>
                <a:solidFill>
                  <a:srgbClr val="263443"/>
                </a:solidFill>
                <a:latin typeface="Aptos"/>
              </a:rPr>
              <a:t>Track sales, profit, delivery, inventory and other KPIs.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46520" y="3694176"/>
            <a:ext cx="5285232" cy="566928"/>
          </a:xfrm>
          <a:prstGeom prst="roundRect">
            <a:avLst/>
          </a:prstGeom>
          <a:solidFill>
            <a:srgbClr val="F7F9FA"/>
          </a:solidFill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8" name="TextBox 37"/>
          <p:cNvSpPr txBox="1"/>
          <p:nvPr/>
        </p:nvSpPr>
        <p:spPr>
          <a:xfrm>
            <a:off x="6601968" y="3785615"/>
            <a:ext cx="1737360" cy="2554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122F50"/>
                </a:solidFill>
                <a:latin typeface="Aptos"/>
              </a:rPr>
              <a:t>Trend Analysis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28009" y="3767328"/>
            <a:ext cx="3154680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>
                <a:solidFill>
                  <a:srgbClr val="263443"/>
                </a:solidFill>
                <a:latin typeface="Aptos"/>
              </a:rPr>
              <a:t>Monitor sales, orders and delivery trends over time.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46520" y="4370832"/>
            <a:ext cx="5285232" cy="566928"/>
          </a:xfrm>
          <a:prstGeom prst="roundRect">
            <a:avLst/>
          </a:prstGeom>
          <a:solidFill>
            <a:srgbClr val="F7F9FA"/>
          </a:solidFill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1" name="TextBox 40"/>
          <p:cNvSpPr txBox="1"/>
          <p:nvPr/>
        </p:nvSpPr>
        <p:spPr>
          <a:xfrm>
            <a:off x="6458917" y="4462272"/>
            <a:ext cx="1982009" cy="2554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122F50"/>
                </a:solidFill>
                <a:latin typeface="Aptos"/>
              </a:rPr>
              <a:t>Custom DAX Measures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2523" y="4443984"/>
            <a:ext cx="3154680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>
                <a:solidFill>
                  <a:srgbClr val="263443"/>
                </a:solidFill>
                <a:latin typeface="Aptos"/>
              </a:rPr>
              <a:t>Reusable measures for dead stock, lead time and utilization.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46520" y="5047488"/>
            <a:ext cx="5285232" cy="566928"/>
          </a:xfrm>
          <a:prstGeom prst="roundRect">
            <a:avLst/>
          </a:prstGeom>
          <a:solidFill>
            <a:srgbClr val="F7F9FA"/>
          </a:solidFill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0" name="TextBox 49"/>
          <p:cNvSpPr txBox="1"/>
          <p:nvPr/>
        </p:nvSpPr>
        <p:spPr>
          <a:xfrm>
            <a:off x="6601968" y="5138928"/>
            <a:ext cx="1737360" cy="4555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122F50"/>
                </a:solidFill>
                <a:latin typeface="Aptos"/>
              </a:rPr>
              <a:t>Multi-Dashboard Navigation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13495" y="5120640"/>
            <a:ext cx="3154680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>
                <a:solidFill>
                  <a:srgbClr val="263443"/>
                </a:solidFill>
                <a:latin typeface="Aptos"/>
              </a:rPr>
              <a:t>Six dashboards for overview, inventory, delivery, supplier, transportation and warehouse.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E18A8D4-491A-BF87-9F04-38FB24149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xmlns="" id="{FF809766-41AB-4AFD-6491-89F0CF9BA99C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F2A52"/>
          </a:solidFill>
          <a:ln/>
          <a:effectLst>
            <a:outerShdw blurRad="63500" dist="25400" dir="5400000" algn="bl" rotWithShape="0">
              <a:srgbClr val="0F2A52">
                <a:alpha val="2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/home/claude/work/icons/flag.png">
            <a:extLst>
              <a:ext uri="{FF2B5EF4-FFF2-40B4-BE49-F238E27FC236}">
                <a16:creationId xmlns:a16="http://schemas.microsoft.com/office/drawing/2014/main" xmlns="" id="{C0EB91CB-E6DC-00E3-8367-EA152C45E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21208"/>
            <a:ext cx="292608" cy="292608"/>
          </a:xfrm>
          <a:prstGeom prst="rect">
            <a:avLst/>
          </a:prstGeom>
        </p:spPr>
      </p:pic>
      <p:sp>
        <p:nvSpPr>
          <p:cNvPr id="36" name="Text 28">
            <a:extLst>
              <a:ext uri="{FF2B5EF4-FFF2-40B4-BE49-F238E27FC236}">
                <a16:creationId xmlns:a16="http://schemas.microsoft.com/office/drawing/2014/main" xmlns="" id="{E2BCD950-3BD3-112A-F060-2352BF034464}"/>
              </a:ext>
            </a:extLst>
          </p:cNvPr>
          <p:cNvSpPr/>
          <p:nvPr/>
        </p:nvSpPr>
        <p:spPr>
          <a:xfrm>
            <a:off x="457200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xmlns="" id="{8E5159F1-342B-AA43-14CC-516F505730EA}"/>
              </a:ext>
            </a:extLst>
          </p:cNvPr>
          <p:cNvSpPr/>
          <p:nvPr/>
        </p:nvSpPr>
        <p:spPr>
          <a:xfrm>
            <a:off x="4114800" y="6501476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b="0">
                <a:solidFill>
                  <a:srgbClr val="586471"/>
                </a:solidFill>
                <a:latin typeface="Aptos"/>
              </a:rPr>
              <a:t>Key Insights Discovered</a:t>
            </a:r>
            <a:endParaRPr lang="en-US" sz="850" dirty="0"/>
          </a:p>
        </p:txBody>
      </p:sp>
      <p:sp>
        <p:nvSpPr>
          <p:cNvPr id="38" name="Text 30">
            <a:extLst>
              <a:ext uri="{FF2B5EF4-FFF2-40B4-BE49-F238E27FC236}">
                <a16:creationId xmlns:a16="http://schemas.microsoft.com/office/drawing/2014/main" xmlns="" id="{48DA8E7B-72C8-5914-92ED-82B8BA583FAD}"/>
              </a:ext>
            </a:extLst>
          </p:cNvPr>
          <p:cNvSpPr/>
          <p:nvPr/>
        </p:nvSpPr>
        <p:spPr>
          <a:xfrm>
            <a:off x="11274552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sz="900" b="0" smtClean="0">
                <a:solidFill>
                  <a:srgbClr val="586471"/>
                </a:solidFill>
                <a:latin typeface="Aptos"/>
              </a:rPr>
              <a:t>1</a:t>
            </a:r>
            <a:r>
              <a:rPr lang="en-US" sz="900" b="0" dirty="0" smtClean="0">
                <a:solidFill>
                  <a:srgbClr val="586471"/>
                </a:solidFill>
                <a:latin typeface="Aptos"/>
              </a:rPr>
              <a:t>3</a:t>
            </a:r>
            <a:endParaRPr lang="en-US" sz="85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xmlns="" id="{880E8F07-2DA9-6E3D-AB1B-D15455B42F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7200" y="37299"/>
            <a:ext cx="1478978" cy="750391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457200" y="1097280"/>
            <a:ext cx="566928" cy="36576"/>
          </a:xfrm>
          <a:prstGeom prst="rect">
            <a:avLst/>
          </a:prstGeom>
          <a:solidFill>
            <a:srgbClr val="1F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457200" y="1417320"/>
            <a:ext cx="3456432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" y="1600200"/>
            <a:ext cx="3090672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b="1">
                <a:solidFill>
                  <a:srgbClr val="122F50"/>
                </a:solidFill>
                <a:latin typeface="Aptos"/>
              </a:rPr>
              <a:t>17.12%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2039112"/>
            <a:ext cx="3090672" cy="24006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 dirty="0">
                <a:solidFill>
                  <a:srgbClr val="1F9791"/>
                </a:solidFill>
                <a:latin typeface="Georgia"/>
              </a:rPr>
              <a:t>On-Time Delivery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2377440"/>
            <a:ext cx="3090672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dirty="0">
                <a:solidFill>
                  <a:srgbClr val="263443"/>
                </a:solidFill>
                <a:latin typeface="Aptos"/>
              </a:rPr>
              <a:t>Only 17.12% of orders were delivered on time, highlighting a logistics performance gap.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97680" y="1417320"/>
            <a:ext cx="3456432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480560" y="1600200"/>
            <a:ext cx="3090672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b="1">
                <a:solidFill>
                  <a:srgbClr val="122F50"/>
                </a:solidFill>
                <a:latin typeface="Aptos"/>
              </a:rPr>
              <a:t>51.22%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80560" y="2039112"/>
            <a:ext cx="3090672" cy="24006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 dirty="0">
                <a:solidFill>
                  <a:srgbClr val="1F9791"/>
                </a:solidFill>
                <a:latin typeface="Georgia"/>
              </a:rPr>
              <a:t>Late Delivery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80560" y="2377440"/>
            <a:ext cx="3090672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dirty="0">
                <a:solidFill>
                  <a:srgbClr val="263443"/>
                </a:solidFill>
                <a:latin typeface="Aptos"/>
              </a:rPr>
              <a:t>Late deliveries were significantly higher than on-time deliveries.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38160" y="1417320"/>
            <a:ext cx="3456432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321040" y="1600200"/>
            <a:ext cx="3090672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b="1">
                <a:solidFill>
                  <a:srgbClr val="122F50"/>
                </a:solidFill>
                <a:latin typeface="Aptos"/>
              </a:rPr>
              <a:t>118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2039112"/>
            <a:ext cx="3090672" cy="24006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 dirty="0">
                <a:solidFill>
                  <a:srgbClr val="1F9791"/>
                </a:solidFill>
                <a:latin typeface="Georgia"/>
              </a:rPr>
              <a:t>Suppliers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40" y="2377440"/>
            <a:ext cx="3090672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dirty="0">
                <a:solidFill>
                  <a:srgbClr val="263443"/>
                </a:solidFill>
                <a:latin typeface="Aptos"/>
              </a:rPr>
              <a:t>Supplier benchmarking across 118 suppliers supports performance evaluation.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3520440"/>
            <a:ext cx="3456432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0080" y="3703320"/>
            <a:ext cx="3090672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b="1">
                <a:solidFill>
                  <a:srgbClr val="122F50"/>
                </a:solidFill>
                <a:latin typeface="Aptos"/>
              </a:rPr>
              <a:t>15.93–84.24%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4142232"/>
            <a:ext cx="3090672" cy="24006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 dirty="0">
                <a:solidFill>
                  <a:srgbClr val="1F9791"/>
                </a:solidFill>
                <a:latin typeface="Georgia"/>
              </a:rPr>
              <a:t>Warehouse Utilization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4480560"/>
            <a:ext cx="3090672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dirty="0">
                <a:solidFill>
                  <a:srgbClr val="263443"/>
                </a:solidFill>
                <a:latin typeface="Aptos"/>
              </a:rPr>
              <a:t>Utilization varied widely, revealing uneven workload distribution.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297680" y="3520440"/>
            <a:ext cx="3456432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480560" y="3703320"/>
            <a:ext cx="3090672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b="1">
                <a:solidFill>
                  <a:srgbClr val="122F50"/>
                </a:solidFill>
                <a:latin typeface="Aptos"/>
              </a:rPr>
              <a:t>0.47x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80560" y="4142232"/>
            <a:ext cx="3090672" cy="24006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 dirty="0">
                <a:solidFill>
                  <a:srgbClr val="1F9791"/>
                </a:solidFill>
                <a:latin typeface="Georgia"/>
              </a:rPr>
              <a:t>Inventory Turnover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80560" y="4480560"/>
            <a:ext cx="3090672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dirty="0">
                <a:solidFill>
                  <a:srgbClr val="263443"/>
                </a:solidFill>
                <a:latin typeface="Aptos"/>
              </a:rPr>
              <a:t>Low turnover indicates inventory that needs better reorder and movement planning.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138160" y="3520440"/>
            <a:ext cx="3456432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321040" y="3703320"/>
            <a:ext cx="3090672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b="1">
                <a:solidFill>
                  <a:srgbClr val="122F50"/>
                </a:solidFill>
                <a:latin typeface="Aptos"/>
              </a:rPr>
              <a:t>95.97%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21040" y="4142232"/>
            <a:ext cx="3090672" cy="24006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 dirty="0">
                <a:solidFill>
                  <a:srgbClr val="1F9791"/>
                </a:solidFill>
                <a:latin typeface="Georgia"/>
              </a:rPr>
              <a:t>Fulfillment Rate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21040" y="4480560"/>
            <a:ext cx="3090672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dirty="0">
                <a:solidFill>
                  <a:srgbClr val="263443"/>
                </a:solidFill>
                <a:latin typeface="Aptos"/>
              </a:rPr>
              <a:t>Strong fulfillment performance shows the value of consolidated dashboard monitoring.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57200" y="5504688"/>
            <a:ext cx="11137392" cy="530352"/>
          </a:xfrm>
          <a:prstGeom prst="roundRect">
            <a:avLst/>
          </a:prstGeom>
          <a:solidFill>
            <a:srgbClr val="EEF5F5"/>
          </a:solidFill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85800" y="5641848"/>
            <a:ext cx="10698480" cy="24006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00" b="1" dirty="0">
                <a:solidFill>
                  <a:srgbClr val="122F50"/>
                </a:solidFill>
                <a:latin typeface="Aptos"/>
              </a:rPr>
              <a:t>Overall insight: the dashboards convert fragmented supply-chain data into clear, measurable insights for faster decisions.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70432" y="493776"/>
            <a:ext cx="95097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22F50"/>
                </a:solidFill>
                <a:latin typeface="Georgia"/>
              </a:rPr>
              <a:t>Key Insights Discovered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1097280"/>
            <a:ext cx="566928" cy="36576"/>
          </a:xfrm>
          <a:prstGeom prst="rect">
            <a:avLst/>
          </a:prstGeom>
          <a:solidFill>
            <a:srgbClr val="1F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xmlns="" val="4139793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E18A8D4-491A-BF87-9F04-38FB24149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xmlns="" id="{FF809766-41AB-4AFD-6491-89F0CF9BA99C}"/>
              </a:ext>
            </a:extLst>
          </p:cNvPr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F2A52"/>
          </a:solidFill>
          <a:ln/>
          <a:effectLst>
            <a:outerShdw blurRad="63500" dist="25400" dir="5400000" algn="bl" rotWithShape="0">
              <a:srgbClr val="0F2A52">
                <a:alpha val="28000"/>
              </a:srgbClr>
            </a:outerShdw>
          </a:effectLst>
        </p:spPr>
      </p:sp>
      <p:pic>
        <p:nvPicPr>
          <p:cNvPr id="3" name="Image 0" descr="/home/claude/work/icons/flag.png">
            <a:extLst>
              <a:ext uri="{FF2B5EF4-FFF2-40B4-BE49-F238E27FC236}">
                <a16:creationId xmlns:a16="http://schemas.microsoft.com/office/drawing/2014/main" xmlns="" id="{C0EB91CB-E6DC-00E3-8367-EA152C45E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21208"/>
            <a:ext cx="292608" cy="292608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xmlns="" id="{403B4BCE-60C9-85FD-F583-5441CFF5C112}"/>
              </a:ext>
            </a:extLst>
          </p:cNvPr>
          <p:cNvSpPr/>
          <p:nvPr/>
        </p:nvSpPr>
        <p:spPr>
          <a:xfrm>
            <a:off x="1170432" y="55778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 smtClean="0">
                <a:solidFill>
                  <a:srgbClr val="0F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 &amp; Future Scope :</a:t>
            </a:r>
            <a:endParaRPr lang="en-US" sz="27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xmlns="" id="{A6CC7FCB-3DE1-5324-5185-E69B42287520}"/>
              </a:ext>
            </a:extLst>
          </p:cNvPr>
          <p:cNvSpPr/>
          <p:nvPr/>
        </p:nvSpPr>
        <p:spPr>
          <a:xfrm>
            <a:off x="457200" y="1097280"/>
            <a:ext cx="566928" cy="32004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xmlns="" id="{2C9F21DA-3221-8424-E5DF-A36C5DF899F6}"/>
              </a:ext>
            </a:extLst>
          </p:cNvPr>
          <p:cNvSpPr/>
          <p:nvPr/>
        </p:nvSpPr>
        <p:spPr>
          <a:xfrm>
            <a:off x="6533388" y="2029968"/>
            <a:ext cx="494233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50" dirty="0"/>
          </a:p>
        </p:txBody>
      </p:sp>
      <p:sp>
        <p:nvSpPr>
          <p:cNvPr id="36" name="Text 28">
            <a:extLst>
              <a:ext uri="{FF2B5EF4-FFF2-40B4-BE49-F238E27FC236}">
                <a16:creationId xmlns:a16="http://schemas.microsoft.com/office/drawing/2014/main" xmlns="" id="{E2BCD950-3BD3-112A-F060-2352BF034464}"/>
              </a:ext>
            </a:extLst>
          </p:cNvPr>
          <p:cNvSpPr/>
          <p:nvPr/>
        </p:nvSpPr>
        <p:spPr>
          <a:xfrm>
            <a:off x="457200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xmlns="" id="{8E5159F1-342B-AA43-14CC-516F505730EA}"/>
              </a:ext>
            </a:extLst>
          </p:cNvPr>
          <p:cNvSpPr/>
          <p:nvPr/>
        </p:nvSpPr>
        <p:spPr>
          <a:xfrm>
            <a:off x="4114800" y="6501476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 smtClean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Future Scope</a:t>
            </a:r>
            <a:endParaRPr lang="en-US" sz="850" dirty="0"/>
          </a:p>
        </p:txBody>
      </p:sp>
      <p:sp>
        <p:nvSpPr>
          <p:cNvPr id="38" name="Text 30">
            <a:extLst>
              <a:ext uri="{FF2B5EF4-FFF2-40B4-BE49-F238E27FC236}">
                <a16:creationId xmlns:a16="http://schemas.microsoft.com/office/drawing/2014/main" xmlns="" id="{48DA8E7B-72C8-5914-92ED-82B8BA583FAD}"/>
              </a:ext>
            </a:extLst>
          </p:cNvPr>
          <p:cNvSpPr/>
          <p:nvPr/>
        </p:nvSpPr>
        <p:spPr>
          <a:xfrm>
            <a:off x="11274552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 smtClean="0">
                <a:solidFill>
                  <a:srgbClr val="285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xmlns="" id="{880E8F07-2DA9-6E3D-AB1B-D15455B42F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7200" y="37299"/>
            <a:ext cx="1478978" cy="750391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457200" y="1463040"/>
            <a:ext cx="5440680" cy="4069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" y="1737360"/>
            <a:ext cx="4754880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 dirty="0">
                <a:solidFill>
                  <a:srgbClr val="122F50"/>
                </a:solidFill>
                <a:latin typeface="Georgia"/>
              </a:rPr>
              <a:t>CHALLENGES FACED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2148840"/>
            <a:ext cx="4800600" cy="307161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smtClean="0">
                <a:solidFill>
                  <a:srgbClr val="002060"/>
                </a:solidFill>
                <a:latin typeface="Aptos"/>
              </a:rPr>
              <a:t>Data Quality </a:t>
            </a:r>
            <a:r>
              <a:rPr sz="1400" b="0" smtClean="0">
                <a:solidFill>
                  <a:srgbClr val="263443"/>
                </a:solidFill>
                <a:latin typeface="Aptos"/>
              </a:rPr>
              <a:t>— inconsistencies, missing values and duplicates required cleaning.
</a:t>
            </a:r>
            <a:r>
              <a:rPr sz="1400" b="1" smtClean="0">
                <a:solidFill>
                  <a:srgbClr val="002060"/>
                </a:solidFill>
                <a:latin typeface="Aptos"/>
              </a:rPr>
              <a:t>Data Integration </a:t>
            </a:r>
            <a:r>
              <a:rPr sz="1400" b="0" smtClean="0">
                <a:solidFill>
                  <a:srgbClr val="263443"/>
                </a:solidFill>
                <a:latin typeface="Aptos"/>
              </a:rPr>
              <a:t>— combining the data into one Star Schema model was complex.
</a:t>
            </a:r>
            <a:r>
              <a:rPr sz="1400" b="1" smtClean="0">
                <a:solidFill>
                  <a:srgbClr val="002060"/>
                </a:solidFill>
                <a:latin typeface="Aptos"/>
              </a:rPr>
              <a:t>DAX Complexity </a:t>
            </a:r>
            <a:r>
              <a:rPr sz="1400" b="0" smtClean="0">
                <a:solidFill>
                  <a:srgbClr val="263443"/>
                </a:solidFill>
                <a:latin typeface="Aptos"/>
              </a:rPr>
              <a:t>— KPI measures required repeated testing and validation.
</a:t>
            </a:r>
            <a:r>
              <a:rPr sz="1400" b="1" smtClean="0">
                <a:solidFill>
                  <a:srgbClr val="002060"/>
                </a:solidFill>
                <a:latin typeface="Aptos"/>
              </a:rPr>
              <a:t>Relationship Modeling </a:t>
            </a:r>
            <a:r>
              <a:rPr sz="1400" b="0" smtClean="0">
                <a:solidFill>
                  <a:srgbClr val="263443"/>
                </a:solidFill>
                <a:latin typeface="Aptos"/>
              </a:rPr>
              <a:t>— correct relationships were essential for accurate results.
</a:t>
            </a:r>
            <a:r>
              <a:rPr sz="1400" b="1" smtClean="0">
                <a:solidFill>
                  <a:srgbClr val="002060"/>
                </a:solidFill>
                <a:latin typeface="Aptos"/>
              </a:rPr>
              <a:t>Visualization Design </a:t>
            </a:r>
            <a:r>
              <a:rPr sz="1400" b="0" smtClean="0">
                <a:solidFill>
                  <a:srgbClr val="263443"/>
                </a:solidFill>
                <a:latin typeface="Aptos"/>
              </a:rPr>
              <a:t>— balancing detail with clarity required iteration</a:t>
            </a:r>
            <a:r>
              <a:rPr sz="940" b="0" smtClean="0">
                <a:solidFill>
                  <a:srgbClr val="263443"/>
                </a:solidFill>
                <a:latin typeface="Aptos"/>
              </a:rPr>
              <a:t>.</a:t>
            </a:r>
            <a:endParaRPr sz="940" b="0" dirty="0">
              <a:solidFill>
                <a:srgbClr val="263443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281928" y="1463040"/>
            <a:ext cx="5449824" cy="4069080"/>
          </a:xfrm>
          <a:prstGeom prst="roundRect">
            <a:avLst/>
          </a:prstGeom>
          <a:solidFill>
            <a:srgbClr val="E7F0E7"/>
          </a:solidFill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28816" y="1737360"/>
            <a:ext cx="4754880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 dirty="0">
                <a:solidFill>
                  <a:srgbClr val="122F50"/>
                </a:solidFill>
                <a:latin typeface="Georgia"/>
              </a:rPr>
              <a:t>FUTURE SCOPE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8816" y="2148840"/>
            <a:ext cx="4800600" cy="285616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 dirty="0">
                <a:solidFill>
                  <a:srgbClr val="002060"/>
                </a:solidFill>
                <a:latin typeface="Aptos"/>
              </a:rPr>
              <a:t>Real-Time Data </a:t>
            </a:r>
            <a:r>
              <a:rPr sz="1400" b="0" dirty="0">
                <a:solidFill>
                  <a:srgbClr val="263443"/>
                </a:solidFill>
                <a:latin typeface="Aptos"/>
              </a:rPr>
              <a:t>— integrate live supply-chain data for continuous monitoring.
</a:t>
            </a:r>
            <a:r>
              <a:rPr sz="1400" b="1" dirty="0">
                <a:solidFill>
                  <a:srgbClr val="002060"/>
                </a:solidFill>
                <a:latin typeface="Aptos"/>
              </a:rPr>
              <a:t>Forecasting</a:t>
            </a:r>
            <a:r>
              <a:rPr sz="1400" b="0" dirty="0">
                <a:solidFill>
                  <a:srgbClr val="263443"/>
                </a:solidFill>
                <a:latin typeface="Aptos"/>
              </a:rPr>
              <a:t> — predict inventory demand and future sales.
</a:t>
            </a:r>
            <a:r>
              <a:rPr sz="1400" b="1" dirty="0">
                <a:solidFill>
                  <a:srgbClr val="002060"/>
                </a:solidFill>
                <a:latin typeface="Aptos"/>
              </a:rPr>
              <a:t>AI/ML Analytics </a:t>
            </a:r>
            <a:r>
              <a:rPr sz="1400" b="0" dirty="0">
                <a:solidFill>
                  <a:srgbClr val="263443"/>
                </a:solidFill>
                <a:latin typeface="Aptos"/>
              </a:rPr>
              <a:t>— add demand forecasting and risk prediction models.
</a:t>
            </a:r>
            <a:r>
              <a:rPr sz="1400" b="1" dirty="0">
                <a:solidFill>
                  <a:srgbClr val="002060"/>
                </a:solidFill>
                <a:latin typeface="Aptos"/>
              </a:rPr>
              <a:t>Automated Alerts </a:t>
            </a:r>
            <a:r>
              <a:rPr sz="1400" b="0" dirty="0">
                <a:solidFill>
                  <a:srgbClr val="263443"/>
                </a:solidFill>
                <a:latin typeface="Aptos"/>
              </a:rPr>
              <a:t>— notify users about low stock, delays and capacity risks.
</a:t>
            </a:r>
            <a:r>
              <a:rPr sz="1400" b="1" dirty="0">
                <a:solidFill>
                  <a:srgbClr val="002060"/>
                </a:solidFill>
                <a:latin typeface="Aptos"/>
              </a:rPr>
              <a:t>Power BI Service </a:t>
            </a:r>
            <a:r>
              <a:rPr sz="1400" b="0" dirty="0">
                <a:solidFill>
                  <a:srgbClr val="263443"/>
                </a:solidFill>
                <a:latin typeface="Aptos"/>
              </a:rPr>
              <a:t>— publish dashboards for organization-wide access and collaboration.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669280"/>
            <a:ext cx="11274552" cy="530352"/>
          </a:xfrm>
          <a:prstGeom prst="roundRect">
            <a:avLst/>
          </a:prstGeom>
          <a:solidFill>
            <a:srgbClr val="EEF5F5"/>
          </a:solidFill>
          <a:ln w="10160">
            <a:solidFill>
              <a:srgbClr val="D7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5806440"/>
            <a:ext cx="1920240" cy="24006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00" b="1" dirty="0">
                <a:solidFill>
                  <a:srgbClr val="122F50"/>
                </a:solidFill>
                <a:latin typeface="Aptos"/>
              </a:rPr>
              <a:t>Current Solution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5797296"/>
            <a:ext cx="3200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9791"/>
                </a:solidFill>
                <a:latin typeface="Aptos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63240" y="5806440"/>
            <a:ext cx="1920240" cy="24006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00" b="1" dirty="0">
                <a:solidFill>
                  <a:srgbClr val="122F50"/>
                </a:solidFill>
                <a:latin typeface="Aptos"/>
              </a:rPr>
              <a:t>Forecasting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5797296"/>
            <a:ext cx="3200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9791"/>
                </a:solidFill>
                <a:latin typeface="Aptos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40680" y="5806440"/>
            <a:ext cx="1920240" cy="24006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00" b="1" dirty="0">
                <a:solidFill>
                  <a:srgbClr val="122F50"/>
                </a:solidFill>
                <a:latin typeface="Aptos"/>
              </a:rPr>
              <a:t>AI / ML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5797296"/>
            <a:ext cx="3200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9791"/>
                </a:solidFill>
                <a:latin typeface="Aptos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5806440"/>
            <a:ext cx="1920240" cy="24006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00" b="1" dirty="0">
                <a:solidFill>
                  <a:srgbClr val="122F50"/>
                </a:solidFill>
                <a:latin typeface="Aptos"/>
              </a:rPr>
              <a:t>Real-Time Alerts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5797296"/>
            <a:ext cx="32004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9791"/>
                </a:solidFill>
                <a:latin typeface="Aptos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04120" y="5806440"/>
            <a:ext cx="1325880" cy="24006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00" b="1" dirty="0">
                <a:solidFill>
                  <a:srgbClr val="122F50"/>
                </a:solidFill>
                <a:latin typeface="Aptos"/>
              </a:rPr>
              <a:t>Power BI Service</a:t>
            </a:r>
          </a:p>
        </p:txBody>
      </p:sp>
    </p:spTree>
    <p:extLst>
      <p:ext uri="{BB962C8B-B14F-4D97-AF65-F5344CB8AC3E}">
        <p14:creationId xmlns:p14="http://schemas.microsoft.com/office/powerpoint/2010/main" xmlns="" val="4139793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F2A52"/>
          </a:solidFill>
          <a:ln/>
          <a:effectLst>
            <a:outerShdw blurRad="63500" dist="25400" dir="5400000" algn="bl" rotWithShape="0">
              <a:srgbClr val="0F2A52">
                <a:alpha val="28000"/>
              </a:srgbClr>
            </a:outerShdw>
          </a:effectLst>
        </p:spPr>
      </p:sp>
      <p:pic>
        <p:nvPicPr>
          <p:cNvPr id="3" name="Image 0" descr="/home/claude/work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2120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0432" y="55778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Members &amp; Roles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566928" cy="32004"/>
          </a:xfrm>
          <a:prstGeom prst="rect">
            <a:avLst/>
          </a:prstGeom>
          <a:solidFill>
            <a:srgbClr val="C99A3B"/>
          </a:solidFill>
          <a:ln/>
        </p:spPr>
      </p:sp>
      <p:sp>
        <p:nvSpPr>
          <p:cNvPr id="7" name="Shape 4"/>
          <p:cNvSpPr/>
          <p:nvPr/>
        </p:nvSpPr>
        <p:spPr>
          <a:xfrm>
            <a:off x="443484" y="2194560"/>
            <a:ext cx="2084832" cy="3383280"/>
          </a:xfrm>
          <a:prstGeom prst="roundRect">
            <a:avLst>
              <a:gd name="adj" fmla="val 3947"/>
            </a:avLst>
          </a:prstGeom>
          <a:solidFill>
            <a:srgbClr val="0F2A52"/>
          </a:solidFill>
          <a:ln/>
          <a:effectLst>
            <a:outerShdw blurRad="76200" dist="25400" dir="5400000" algn="bl" rotWithShape="0">
              <a:srgbClr val="0B1E3A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43484" y="2194560"/>
            <a:ext cx="2084832" cy="45720"/>
          </a:xfrm>
          <a:prstGeom prst="rect">
            <a:avLst/>
          </a:prstGeom>
          <a:solidFill>
            <a:srgbClr val="C99A3B"/>
          </a:solidFill>
          <a:ln/>
        </p:spPr>
      </p:sp>
      <p:pic>
        <p:nvPicPr>
          <p:cNvPr id="10" name="Image 1" descr="/home/claude/work/icons/us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292" y="2770632"/>
            <a:ext cx="585216" cy="5852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4924" y="365760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Anchal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1248156" y="4160520"/>
            <a:ext cx="475488" cy="475488"/>
          </a:xfrm>
          <a:prstGeom prst="ellipse">
            <a:avLst/>
          </a:prstGeom>
          <a:solidFill>
            <a:srgbClr val="FFFFFF">
              <a:alpha val="92000"/>
            </a:srgbClr>
          </a:solidFill>
          <a:ln/>
        </p:spPr>
      </p:sp>
      <p:pic>
        <p:nvPicPr>
          <p:cNvPr id="13" name="Image 2" descr="/home/claude/work/icons/box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7884" y="4270248"/>
            <a:ext cx="256032" cy="256032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14" name="Text 9"/>
          <p:cNvSpPr/>
          <p:nvPr/>
        </p:nvSpPr>
        <p:spPr>
          <a:xfrm>
            <a:off x="580644" y="4736592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Analytics Dashboard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2747772" y="2194560"/>
            <a:ext cx="2084832" cy="3383280"/>
          </a:xfrm>
          <a:prstGeom prst="roundRect">
            <a:avLst>
              <a:gd name="adj" fmla="val 3947"/>
            </a:avLst>
          </a:prstGeom>
          <a:solidFill>
            <a:srgbClr val="2856A3"/>
          </a:solidFill>
          <a:ln/>
          <a:effectLst>
            <a:outerShdw blurRad="76200" dist="25400" dir="5400000" algn="bl" rotWithShape="0">
              <a:srgbClr val="0B1E3A">
                <a:alpha val="2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2747772" y="2194560"/>
            <a:ext cx="2084832" cy="45720"/>
          </a:xfrm>
          <a:prstGeom prst="rect">
            <a:avLst/>
          </a:prstGeom>
          <a:solidFill>
            <a:srgbClr val="C99A3B"/>
          </a:solidFill>
          <a:ln/>
        </p:spPr>
      </p:sp>
      <p:pic>
        <p:nvPicPr>
          <p:cNvPr id="18" name="Image 3" descr="/home/claude/work/icons/us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7580" y="2770632"/>
            <a:ext cx="585216" cy="58521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839212" y="365760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Mehak</a:t>
            </a: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Grover</a:t>
            </a:r>
            <a:endParaRPr lang="en-US" sz="2000" dirty="0"/>
          </a:p>
        </p:txBody>
      </p:sp>
      <p:sp>
        <p:nvSpPr>
          <p:cNvPr id="20" name="Shape 14"/>
          <p:cNvSpPr/>
          <p:nvPr/>
        </p:nvSpPr>
        <p:spPr>
          <a:xfrm>
            <a:off x="3552444" y="4160520"/>
            <a:ext cx="475488" cy="475488"/>
          </a:xfrm>
          <a:prstGeom prst="ellipse">
            <a:avLst/>
          </a:prstGeom>
          <a:solidFill>
            <a:srgbClr val="FFFFFF">
              <a:alpha val="92000"/>
            </a:srgbClr>
          </a:solidFill>
          <a:ln/>
        </p:spPr>
      </p:sp>
      <p:pic>
        <p:nvPicPr>
          <p:cNvPr id="21" name="Image 4" descr="/home/claude/work/icons/handshak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2172" y="4270248"/>
            <a:ext cx="256032" cy="256032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22" name="Text 15"/>
          <p:cNvSpPr/>
          <p:nvPr/>
        </p:nvSpPr>
        <p:spPr>
          <a:xfrm>
            <a:off x="2884932" y="4736592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dirty="0">
                <a:solidFill>
                  <a:srgbClr val="D9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Efficiency Dashboard</a:t>
            </a:r>
            <a:endParaRPr lang="en-US" sz="1600" dirty="0"/>
          </a:p>
        </p:txBody>
      </p:sp>
      <p:sp>
        <p:nvSpPr>
          <p:cNvPr id="23" name="Shape 16"/>
          <p:cNvSpPr/>
          <p:nvPr/>
        </p:nvSpPr>
        <p:spPr>
          <a:xfrm>
            <a:off x="5052060" y="2194560"/>
            <a:ext cx="2084832" cy="3383280"/>
          </a:xfrm>
          <a:prstGeom prst="roundRect">
            <a:avLst>
              <a:gd name="adj" fmla="val 3947"/>
            </a:avLst>
          </a:prstGeom>
          <a:solidFill>
            <a:srgbClr val="0F2A52"/>
          </a:solidFill>
          <a:ln/>
          <a:effectLst>
            <a:outerShdw blurRad="76200" dist="25400" dir="5400000" algn="bl" rotWithShape="0">
              <a:srgbClr val="0B1E3A">
                <a:alpha val="25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5052060" y="2194560"/>
            <a:ext cx="2084832" cy="45720"/>
          </a:xfrm>
          <a:prstGeom prst="rect">
            <a:avLst/>
          </a:prstGeom>
          <a:solidFill>
            <a:srgbClr val="C99A3B"/>
          </a:solidFill>
          <a:ln/>
        </p:spPr>
      </p:sp>
      <p:pic>
        <p:nvPicPr>
          <p:cNvPr id="26" name="Image 5" descr="/home/claude/work/icons/us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1868" y="2770632"/>
            <a:ext cx="585216" cy="58521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143500" y="3618411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Abbireddy</a:t>
            </a: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Mohana</a:t>
            </a: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Amitha</a:t>
            </a:r>
            <a:endParaRPr lang="en-US" dirty="0"/>
          </a:p>
        </p:txBody>
      </p:sp>
      <p:sp>
        <p:nvSpPr>
          <p:cNvPr id="28" name="Shape 20"/>
          <p:cNvSpPr/>
          <p:nvPr/>
        </p:nvSpPr>
        <p:spPr>
          <a:xfrm>
            <a:off x="5856732" y="4160520"/>
            <a:ext cx="475488" cy="475488"/>
          </a:xfrm>
          <a:prstGeom prst="ellipse">
            <a:avLst/>
          </a:prstGeom>
          <a:solidFill>
            <a:srgbClr val="FFFFFF">
              <a:alpha val="92000"/>
            </a:srgbClr>
          </a:solidFill>
          <a:ln/>
        </p:spPr>
      </p:sp>
      <p:pic>
        <p:nvPicPr>
          <p:cNvPr id="29" name="Image 6" descr="/home/claude/work/icons/tru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6460" y="4270248"/>
            <a:ext cx="256032" cy="256032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30" name="Text 21"/>
          <p:cNvSpPr/>
          <p:nvPr/>
        </p:nvSpPr>
        <p:spPr>
          <a:xfrm>
            <a:off x="5189220" y="4736592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Performance Dashboard</a:t>
            </a:r>
            <a:endParaRPr lang="en-US" sz="1500" dirty="0"/>
          </a:p>
        </p:txBody>
      </p:sp>
      <p:sp>
        <p:nvSpPr>
          <p:cNvPr id="31" name="Shape 22"/>
          <p:cNvSpPr/>
          <p:nvPr/>
        </p:nvSpPr>
        <p:spPr>
          <a:xfrm>
            <a:off x="7356348" y="2194560"/>
            <a:ext cx="2084832" cy="3383280"/>
          </a:xfrm>
          <a:prstGeom prst="roundRect">
            <a:avLst>
              <a:gd name="adj" fmla="val 3947"/>
            </a:avLst>
          </a:prstGeom>
          <a:solidFill>
            <a:srgbClr val="2856A3"/>
          </a:solidFill>
          <a:ln/>
          <a:effectLst>
            <a:outerShdw blurRad="76200" dist="25400" dir="5400000" algn="bl" rotWithShape="0">
              <a:srgbClr val="0B1E3A">
                <a:alpha val="25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7356348" y="2194560"/>
            <a:ext cx="2084832" cy="45720"/>
          </a:xfrm>
          <a:prstGeom prst="rect">
            <a:avLst/>
          </a:prstGeom>
          <a:solidFill>
            <a:srgbClr val="C99A3B"/>
          </a:solidFill>
          <a:ln/>
        </p:spPr>
      </p:sp>
      <p:pic>
        <p:nvPicPr>
          <p:cNvPr id="34" name="Image 7" descr="/home/claude/work/icons/us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6156" y="2770632"/>
            <a:ext cx="585216" cy="585216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447788" y="365760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5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Sakshi</a:t>
            </a:r>
            <a:r>
              <a:rPr lang="en-US" sz="1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95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Bhabad</a:t>
            </a:r>
            <a:endParaRPr lang="en-US" sz="1950" dirty="0"/>
          </a:p>
        </p:txBody>
      </p:sp>
      <p:sp>
        <p:nvSpPr>
          <p:cNvPr id="36" name="Shape 26"/>
          <p:cNvSpPr/>
          <p:nvPr/>
        </p:nvSpPr>
        <p:spPr>
          <a:xfrm>
            <a:off x="8161020" y="4160520"/>
            <a:ext cx="475488" cy="475488"/>
          </a:xfrm>
          <a:prstGeom prst="ellipse">
            <a:avLst/>
          </a:prstGeom>
          <a:solidFill>
            <a:srgbClr val="FFFFFF">
              <a:alpha val="92000"/>
            </a:srgbClr>
          </a:solidFill>
          <a:ln/>
        </p:spPr>
      </p:sp>
      <p:pic>
        <p:nvPicPr>
          <p:cNvPr id="37" name="Image 8" descr="/home/claude/work/icons/shippin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0748" y="4270248"/>
            <a:ext cx="256032" cy="256032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38" name="Text 27"/>
          <p:cNvSpPr/>
          <p:nvPr/>
        </p:nvSpPr>
        <p:spPr>
          <a:xfrm>
            <a:off x="7493508" y="4736592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Analytics Dashboard</a:t>
            </a:r>
            <a:endParaRPr lang="en-US" sz="1500" dirty="0"/>
          </a:p>
        </p:txBody>
      </p:sp>
      <p:sp>
        <p:nvSpPr>
          <p:cNvPr id="39" name="Shape 28"/>
          <p:cNvSpPr/>
          <p:nvPr/>
        </p:nvSpPr>
        <p:spPr>
          <a:xfrm>
            <a:off x="9660636" y="2194560"/>
            <a:ext cx="2084832" cy="3383280"/>
          </a:xfrm>
          <a:prstGeom prst="roundRect">
            <a:avLst>
              <a:gd name="adj" fmla="val 3947"/>
            </a:avLst>
          </a:prstGeom>
          <a:solidFill>
            <a:srgbClr val="0F2A52"/>
          </a:solidFill>
          <a:ln/>
          <a:effectLst>
            <a:outerShdw blurRad="76200" dist="25400" dir="5400000" algn="bl" rotWithShape="0">
              <a:srgbClr val="0B1E3A">
                <a:alpha val="25000"/>
              </a:srgbClr>
            </a:outerShdw>
          </a:effectLst>
        </p:spPr>
      </p:sp>
      <p:sp>
        <p:nvSpPr>
          <p:cNvPr id="40" name="Shape 29"/>
          <p:cNvSpPr/>
          <p:nvPr/>
        </p:nvSpPr>
        <p:spPr>
          <a:xfrm>
            <a:off x="9660636" y="2194560"/>
            <a:ext cx="2084832" cy="45720"/>
          </a:xfrm>
          <a:prstGeom prst="rect">
            <a:avLst/>
          </a:prstGeom>
          <a:solidFill>
            <a:srgbClr val="C99A3B"/>
          </a:solidFill>
          <a:ln/>
        </p:spPr>
      </p:sp>
      <p:pic>
        <p:nvPicPr>
          <p:cNvPr id="42" name="Image 9" descr="/home/claude/work/icons/us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0444" y="2770632"/>
            <a:ext cx="585216" cy="585216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9752076" y="365760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P. </a:t>
            </a:r>
            <a:r>
              <a:rPr lang="en-US" sz="19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Akshaya</a:t>
            </a: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Reddy</a:t>
            </a:r>
            <a:endParaRPr lang="en-US" sz="1900" dirty="0"/>
          </a:p>
        </p:txBody>
      </p:sp>
      <p:sp>
        <p:nvSpPr>
          <p:cNvPr id="44" name="Shape 32"/>
          <p:cNvSpPr/>
          <p:nvPr/>
        </p:nvSpPr>
        <p:spPr>
          <a:xfrm>
            <a:off x="10465308" y="4160520"/>
            <a:ext cx="475488" cy="475488"/>
          </a:xfrm>
          <a:prstGeom prst="ellipse">
            <a:avLst/>
          </a:prstGeom>
          <a:solidFill>
            <a:srgbClr val="FFFFFF">
              <a:alpha val="92000"/>
            </a:srgbClr>
          </a:solidFill>
          <a:ln/>
        </p:spPr>
      </p:sp>
      <p:pic>
        <p:nvPicPr>
          <p:cNvPr id="45" name="Image 10" descr="/home/claude/work/icons/warehous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5036" y="4270248"/>
            <a:ext cx="256032" cy="256032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46" name="Text 33"/>
          <p:cNvSpPr/>
          <p:nvPr/>
        </p:nvSpPr>
        <p:spPr>
          <a:xfrm>
            <a:off x="9797796" y="4736592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dirty="0">
                <a:solidFill>
                  <a:srgbClr val="D9E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Performance Dashboard</a:t>
            </a:r>
            <a:endParaRPr lang="en-US" sz="1600" dirty="0"/>
          </a:p>
        </p:txBody>
      </p:sp>
      <p:sp>
        <p:nvSpPr>
          <p:cNvPr id="47" name="Shape 34"/>
          <p:cNvSpPr/>
          <p:nvPr/>
        </p:nvSpPr>
        <p:spPr>
          <a:xfrm>
            <a:off x="457200" y="6400800"/>
            <a:ext cx="11274552" cy="0"/>
          </a:xfrm>
          <a:prstGeom prst="line">
            <a:avLst/>
          </a:prstGeom>
          <a:noFill/>
          <a:ln w="9525">
            <a:solidFill>
              <a:srgbClr val="D7E1F0"/>
            </a:solidFill>
            <a:prstDash val="solid"/>
          </a:ln>
        </p:spPr>
      </p:sp>
      <p:sp>
        <p:nvSpPr>
          <p:cNvPr id="48" name="Text 35"/>
          <p:cNvSpPr/>
          <p:nvPr/>
        </p:nvSpPr>
        <p:spPr>
          <a:xfrm>
            <a:off x="457200" y="6492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dirty="0"/>
          </a:p>
        </p:txBody>
      </p:sp>
      <p:sp>
        <p:nvSpPr>
          <p:cNvPr id="49" name="Text 36"/>
          <p:cNvSpPr/>
          <p:nvPr/>
        </p:nvSpPr>
        <p:spPr>
          <a:xfrm>
            <a:off x="4114800" y="6492240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&amp; Roles</a:t>
            </a:r>
            <a:endParaRPr lang="en-US" sz="850" dirty="0"/>
          </a:p>
        </p:txBody>
      </p:sp>
      <p:sp>
        <p:nvSpPr>
          <p:cNvPr id="50" name="Text 37"/>
          <p:cNvSpPr/>
          <p:nvPr/>
        </p:nvSpPr>
        <p:spPr>
          <a:xfrm>
            <a:off x="11274552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 smtClean="0">
                <a:solidFill>
                  <a:srgbClr val="285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xmlns="" id="{880E8F07-2DA9-6E3D-AB1B-D15455B42F6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17200" y="37299"/>
            <a:ext cx="1478978" cy="7503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 descr="WhatsApp Image 2026-08-17 at 9.49.31 AM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920"/>
            <a:ext cx="12191999" cy="68040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880E8F07-2DA9-6E3D-AB1B-D15455B42F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7200" y="37299"/>
            <a:ext cx="1478978" cy="7503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11447</TotalTime>
  <Words>1433</Words>
  <Application>Microsoft Office PowerPoint</Application>
  <PresentationFormat>Custom</PresentationFormat>
  <Paragraphs>274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Office Theme</vt:lpstr>
      <vt:lpstr>1_Office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Mehak Grover</cp:lastModifiedBy>
  <cp:revision>67</cp:revision>
  <dcterms:created xsi:type="dcterms:W3CDTF">2026-08-08T14:50:40Z</dcterms:created>
  <dcterms:modified xsi:type="dcterms:W3CDTF">2026-08-28T15:35:10Z</dcterms:modified>
</cp:coreProperties>
</file>